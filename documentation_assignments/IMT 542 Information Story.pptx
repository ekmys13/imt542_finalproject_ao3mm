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embeddedFontLst>
    <p:embeddedFont>
      <p:font typeface="Open Sans"/>
      <p:regular r:id="rId11"/>
      <p:bold r:id="rId12"/>
      <p:italic r:id="rId13"/>
      <p:boldItalic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OpenSans-regular.fntdata"/><Relationship Id="rId10" Type="http://schemas.openxmlformats.org/officeDocument/2006/relationships/slide" Target="slides/slide5.xml"/><Relationship Id="rId13" Type="http://schemas.openxmlformats.org/officeDocument/2006/relationships/font" Target="fonts/OpenSans-italic.fntdata"/><Relationship Id="rId12" Type="http://schemas.openxmlformats.org/officeDocument/2006/relationships/font" Target="fonts/OpenSans-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font" Target="fonts/OpenSans-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d81d0230c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d81d0230c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d81d0230c3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d81d0230c3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500"/>
              </a:spcAft>
              <a:buClr>
                <a:schemeClr val="dk1"/>
              </a:buClr>
              <a:buSzPts val="1100"/>
              <a:buFont typeface="Arial"/>
              <a:buNone/>
            </a:pPr>
            <a:r>
              <a:rPr lang="en" sz="1200">
                <a:solidFill>
                  <a:srgbClr val="273540"/>
                </a:solidFill>
                <a:highlight>
                  <a:schemeClr val="lt1"/>
                </a:highlight>
                <a:latin typeface="Open Sans"/>
                <a:ea typeface="Open Sans"/>
                <a:cs typeface="Open Sans"/>
                <a:sym typeface="Open Sans"/>
              </a:rPr>
              <a:t>Slide 2*: information wireframes (blueprint of how information is organization and/or UI wireframes that suggest how information is organized)</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d81d0230c3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d81d0230c3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500"/>
              </a:spcAft>
              <a:buNone/>
            </a:pPr>
            <a:r>
              <a:rPr lang="en" sz="1200">
                <a:solidFill>
                  <a:srgbClr val="273540"/>
                </a:solidFill>
                <a:highlight>
                  <a:schemeClr val="lt1"/>
                </a:highlight>
                <a:latin typeface="Open Sans"/>
                <a:ea typeface="Open Sans"/>
                <a:cs typeface="Open Sans"/>
                <a:sym typeface="Open Sans"/>
              </a:rPr>
              <a:t>Slide 3*: description of main concepts that ideally will be in the information product as either controlled vocab list or metadata scheme/taxonomy</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d81d0230c3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d81d0230c3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archiveofourown.org/works/27804601/chapters/122214766" TargetMode="External"/><Relationship Id="rId4" Type="http://schemas.openxmlformats.org/officeDocument/2006/relationships/hyperlink" Target="https://archiveofourown.org/works/62863873"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5000">
                <a:solidFill>
                  <a:srgbClr val="273540"/>
                </a:solidFill>
                <a:highlight>
                  <a:srgbClr val="FFFFFF"/>
                </a:highlight>
                <a:latin typeface="Open Sans"/>
                <a:ea typeface="Open Sans"/>
                <a:cs typeface="Open Sans"/>
                <a:sym typeface="Open Sans"/>
              </a:rPr>
              <a:t>Information Story: </a:t>
            </a:r>
            <a:endParaRPr sz="5000">
              <a:solidFill>
                <a:srgbClr val="273540"/>
              </a:solidFill>
              <a:highlight>
                <a:srgbClr val="FFFFFF"/>
              </a:highlight>
              <a:latin typeface="Open Sans"/>
              <a:ea typeface="Open Sans"/>
              <a:cs typeface="Open Sans"/>
              <a:sym typeface="Open Sans"/>
            </a:endParaRPr>
          </a:p>
          <a:p>
            <a:pPr indent="0" lvl="0" marL="0" rtl="0" algn="ctr">
              <a:spcBef>
                <a:spcPts val="0"/>
              </a:spcBef>
              <a:spcAft>
                <a:spcPts val="0"/>
              </a:spcAft>
              <a:buNone/>
            </a:pPr>
            <a:r>
              <a:rPr lang="en" sz="2100">
                <a:solidFill>
                  <a:srgbClr val="273540"/>
                </a:solidFill>
                <a:highlight>
                  <a:srgbClr val="FFFFFF"/>
                </a:highlight>
                <a:latin typeface="Open Sans"/>
                <a:ea typeface="Open Sans"/>
                <a:cs typeface="Open Sans"/>
                <a:sym typeface="Open Sans"/>
              </a:rPr>
              <a:t>IMT 542 Assignment G4 Updated</a:t>
            </a:r>
            <a:endParaRPr>
              <a:latin typeface="Open Sans"/>
              <a:ea typeface="Open Sans"/>
              <a:cs typeface="Open Sans"/>
              <a:sym typeface="Open Sans"/>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latin typeface="Open Sans"/>
                <a:ea typeface="Open Sans"/>
                <a:cs typeface="Open Sans"/>
                <a:sym typeface="Open Sans"/>
              </a:rPr>
              <a:t>Em Stelter, 6/5/2026</a:t>
            </a:r>
            <a:endParaRPr>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pen Sans"/>
                <a:ea typeface="Open Sans"/>
                <a:cs typeface="Open Sans"/>
                <a:sym typeface="Open Sans"/>
              </a:rPr>
              <a:t>1) </a:t>
            </a:r>
            <a:r>
              <a:rPr lang="en">
                <a:latin typeface="Open Sans"/>
                <a:ea typeface="Open Sans"/>
                <a:cs typeface="Open Sans"/>
                <a:sym typeface="Open Sans"/>
              </a:rPr>
              <a:t>Description of information system</a:t>
            </a:r>
            <a:endParaRPr>
              <a:latin typeface="Open Sans"/>
              <a:ea typeface="Open Sans"/>
              <a:cs typeface="Open Sans"/>
              <a:sym typeface="Open Sans"/>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b="1" lang="en" sz="1200">
                <a:solidFill>
                  <a:srgbClr val="273540"/>
                </a:solidFill>
                <a:highlight>
                  <a:srgbClr val="FFFFFF"/>
                </a:highlight>
                <a:latin typeface="Open Sans"/>
                <a:ea typeface="Open Sans"/>
                <a:cs typeface="Open Sans"/>
                <a:sym typeface="Open Sans"/>
              </a:rPr>
              <a:t>Description of information system product:</a:t>
            </a:r>
            <a:endParaRPr b="1" sz="1200">
              <a:solidFill>
                <a:srgbClr val="273540"/>
              </a:solidFill>
              <a:highlight>
                <a:srgbClr val="FFFFFF"/>
              </a:highlight>
              <a:latin typeface="Open Sans"/>
              <a:ea typeface="Open Sans"/>
              <a:cs typeface="Open Sans"/>
              <a:sym typeface="Open Sans"/>
            </a:endParaRPr>
          </a:p>
          <a:p>
            <a:pPr indent="-287655" lvl="0" marL="457200" rtl="0" algn="l">
              <a:spcBef>
                <a:spcPts val="500"/>
              </a:spcBef>
              <a:spcAft>
                <a:spcPts val="0"/>
              </a:spcAft>
              <a:buClr>
                <a:srgbClr val="273540"/>
              </a:buClr>
              <a:buSzPct val="100000"/>
              <a:buFont typeface="Open Sans"/>
              <a:buChar char="●"/>
            </a:pPr>
            <a:r>
              <a:rPr lang="en" sz="1200">
                <a:solidFill>
                  <a:srgbClr val="273540"/>
                </a:solidFill>
                <a:highlight>
                  <a:srgbClr val="FFFFFF"/>
                </a:highlight>
                <a:latin typeface="Open Sans"/>
                <a:ea typeface="Open Sans"/>
                <a:cs typeface="Open Sans"/>
                <a:sym typeface="Open Sans"/>
              </a:rPr>
              <a:t>Archive of Our Own, or Ao3, is an online archive of fanfiction (i.e. stories or other kinds of art about / set in a preexisting intellectual property, written by fans for free, purely for the love of the game) and other transformative works. Fanfiction as a writing genre, particularly as stored on Ao3, differs from traditional fiction in that stories are heavily tagged with metadata that flags information about the story up front, including certain types of character relationships, content warnings, ratings, among other things.</a:t>
            </a:r>
            <a:endParaRPr sz="1200">
              <a:solidFill>
                <a:srgbClr val="273540"/>
              </a:solidFill>
              <a:highlight>
                <a:srgbClr val="FFFFFF"/>
              </a:highlight>
              <a:latin typeface="Open Sans"/>
              <a:ea typeface="Open Sans"/>
              <a:cs typeface="Open Sans"/>
              <a:sym typeface="Open Sans"/>
            </a:endParaRPr>
          </a:p>
          <a:p>
            <a:pPr indent="-287655" lvl="0" marL="457200" rtl="0" algn="l">
              <a:spcBef>
                <a:spcPts val="0"/>
              </a:spcBef>
              <a:spcAft>
                <a:spcPts val="0"/>
              </a:spcAft>
              <a:buClr>
                <a:srgbClr val="273540"/>
              </a:buClr>
              <a:buSzPct val="100000"/>
              <a:buFont typeface="Open Sans"/>
              <a:buChar char="●"/>
            </a:pPr>
            <a:r>
              <a:rPr lang="en" sz="1200">
                <a:solidFill>
                  <a:srgbClr val="273540"/>
                </a:solidFill>
                <a:highlight>
                  <a:srgbClr val="FFFFFF"/>
                </a:highlight>
                <a:latin typeface="Open Sans"/>
                <a:ea typeface="Open Sans"/>
                <a:cs typeface="Open Sans"/>
                <a:sym typeface="Open Sans"/>
              </a:rPr>
              <a:t>The product is a Python-based tool (set of Jupyter notebooks &amp; Python scripts) that:</a:t>
            </a:r>
            <a:endParaRPr sz="1200">
              <a:solidFill>
                <a:srgbClr val="273540"/>
              </a:solidFill>
              <a:highlight>
                <a:srgbClr val="FFFFFF"/>
              </a:highlight>
              <a:latin typeface="Open Sans"/>
              <a:ea typeface="Open Sans"/>
              <a:cs typeface="Open Sans"/>
              <a:sym typeface="Open Sans"/>
            </a:endParaRPr>
          </a:p>
          <a:p>
            <a:pPr indent="-287655" lvl="1" marL="914400" rtl="0" algn="l">
              <a:spcBef>
                <a:spcPts val="0"/>
              </a:spcBef>
              <a:spcAft>
                <a:spcPts val="0"/>
              </a:spcAft>
              <a:buClr>
                <a:srgbClr val="273540"/>
              </a:buClr>
              <a:buSzPct val="100000"/>
              <a:buFont typeface="Open Sans"/>
              <a:buChar char="○"/>
            </a:pPr>
            <a:r>
              <a:rPr lang="en" sz="1200">
                <a:solidFill>
                  <a:srgbClr val="273540"/>
                </a:solidFill>
                <a:highlight>
                  <a:srgbClr val="FFFFFF"/>
                </a:highlight>
                <a:latin typeface="Open Sans"/>
                <a:ea typeface="Open Sans"/>
                <a:cs typeface="Open Sans"/>
                <a:sym typeface="Open Sans"/>
              </a:rPr>
              <a:t>Scrapes metadata from published works on the fanfiction archive website Archive of Our Own (Ao3)</a:t>
            </a:r>
            <a:endParaRPr sz="1200">
              <a:solidFill>
                <a:srgbClr val="273540"/>
              </a:solidFill>
              <a:highlight>
                <a:srgbClr val="FFFFFF"/>
              </a:highlight>
              <a:latin typeface="Open Sans"/>
              <a:ea typeface="Open Sans"/>
              <a:cs typeface="Open Sans"/>
              <a:sym typeface="Open Sans"/>
            </a:endParaRPr>
          </a:p>
          <a:p>
            <a:pPr indent="-287655" lvl="1" marL="914400" rtl="0" algn="l">
              <a:spcBef>
                <a:spcPts val="0"/>
              </a:spcBef>
              <a:spcAft>
                <a:spcPts val="0"/>
              </a:spcAft>
              <a:buClr>
                <a:srgbClr val="273540"/>
              </a:buClr>
              <a:buSzPct val="100000"/>
              <a:buFont typeface="Open Sans"/>
              <a:buChar char="○"/>
            </a:pPr>
            <a:r>
              <a:rPr lang="en" sz="1200">
                <a:solidFill>
                  <a:srgbClr val="273540"/>
                </a:solidFill>
                <a:highlight>
                  <a:srgbClr val="FFFFFF"/>
                </a:highlight>
                <a:latin typeface="Open Sans"/>
                <a:ea typeface="Open Sans"/>
                <a:cs typeface="Open Sans"/>
                <a:sym typeface="Open Sans"/>
              </a:rPr>
              <a:t>Converts the compiled metadata into a JSON array of metadata for all works listed under a particular fandom or intellectual property on Ao3</a:t>
            </a:r>
            <a:endParaRPr sz="1200">
              <a:solidFill>
                <a:srgbClr val="273540"/>
              </a:solidFill>
              <a:highlight>
                <a:srgbClr val="FFFFFF"/>
              </a:highlight>
              <a:latin typeface="Open Sans"/>
              <a:ea typeface="Open Sans"/>
              <a:cs typeface="Open Sans"/>
              <a:sym typeface="Open Sans"/>
            </a:endParaRPr>
          </a:p>
          <a:p>
            <a:pPr indent="-287655" lvl="1" marL="914400" rtl="0" algn="l">
              <a:spcBef>
                <a:spcPts val="0"/>
              </a:spcBef>
              <a:spcAft>
                <a:spcPts val="0"/>
              </a:spcAft>
              <a:buClr>
                <a:srgbClr val="273540"/>
              </a:buClr>
              <a:buSzPct val="100000"/>
              <a:buFont typeface="Open Sans"/>
              <a:buChar char="○"/>
            </a:pPr>
            <a:r>
              <a:rPr lang="en" sz="1200">
                <a:solidFill>
                  <a:srgbClr val="273540"/>
                </a:solidFill>
                <a:highlight>
                  <a:srgbClr val="FFFFFF"/>
                </a:highlight>
                <a:latin typeface="Open Sans"/>
                <a:ea typeface="Open Sans"/>
                <a:cs typeface="Open Sans"/>
                <a:sym typeface="Open Sans"/>
              </a:rPr>
              <a:t>Converts the JSON array into a dataframe</a:t>
            </a:r>
            <a:endParaRPr sz="1200">
              <a:solidFill>
                <a:srgbClr val="273540"/>
              </a:solidFill>
              <a:highlight>
                <a:srgbClr val="FFFFFF"/>
              </a:highlight>
              <a:latin typeface="Open Sans"/>
              <a:ea typeface="Open Sans"/>
              <a:cs typeface="Open Sans"/>
              <a:sym typeface="Open Sans"/>
            </a:endParaRPr>
          </a:p>
          <a:p>
            <a:pPr indent="-287655" lvl="1" marL="914400" rtl="0" algn="l">
              <a:spcBef>
                <a:spcPts val="0"/>
              </a:spcBef>
              <a:spcAft>
                <a:spcPts val="0"/>
              </a:spcAft>
              <a:buClr>
                <a:srgbClr val="273540"/>
              </a:buClr>
              <a:buSzPct val="100000"/>
              <a:buFont typeface="Open Sans"/>
              <a:buChar char="○"/>
            </a:pPr>
            <a:r>
              <a:rPr lang="en" sz="1200">
                <a:solidFill>
                  <a:srgbClr val="273540"/>
                </a:solidFill>
                <a:highlight>
                  <a:srgbClr val="FFFFFF"/>
                </a:highlight>
                <a:latin typeface="Open Sans"/>
                <a:ea typeface="Open Sans"/>
                <a:cs typeface="Open Sans"/>
                <a:sym typeface="Open Sans"/>
              </a:rPr>
              <a:t>Create data visualizations to support insights about the collection of fanworks represented</a:t>
            </a:r>
            <a:endParaRPr sz="1200">
              <a:solidFill>
                <a:srgbClr val="273540"/>
              </a:solidFill>
              <a:highlight>
                <a:srgbClr val="FFFFFF"/>
              </a:highlight>
              <a:latin typeface="Open Sans"/>
              <a:ea typeface="Open Sans"/>
              <a:cs typeface="Open Sans"/>
              <a:sym typeface="Open Sans"/>
            </a:endParaRPr>
          </a:p>
          <a:p>
            <a:pPr indent="-287655" lvl="0" marL="457200" rtl="0" algn="l">
              <a:spcBef>
                <a:spcPts val="0"/>
              </a:spcBef>
              <a:spcAft>
                <a:spcPts val="0"/>
              </a:spcAft>
              <a:buClr>
                <a:srgbClr val="273540"/>
              </a:buClr>
              <a:buSzPct val="100000"/>
              <a:buFont typeface="Open Sans"/>
              <a:buChar char="●"/>
            </a:pPr>
            <a:r>
              <a:rPr lang="en" sz="1200">
                <a:solidFill>
                  <a:srgbClr val="273540"/>
                </a:solidFill>
                <a:highlight>
                  <a:srgbClr val="FFFFFF"/>
                </a:highlight>
                <a:latin typeface="Open Sans"/>
                <a:ea typeface="Open Sans"/>
                <a:cs typeface="Open Sans"/>
                <a:sym typeface="Open Sans"/>
              </a:rPr>
              <a:t>The product will be adaptable to any fandom / particular intellectual property with a fandom presence on Archive of Our Own.</a:t>
            </a:r>
            <a:endParaRPr sz="1200">
              <a:solidFill>
                <a:srgbClr val="273540"/>
              </a:solidFill>
              <a:highlight>
                <a:srgbClr val="FFFFFF"/>
              </a:highlight>
              <a:latin typeface="Open Sans"/>
              <a:ea typeface="Open Sans"/>
              <a:cs typeface="Open Sans"/>
              <a:sym typeface="Open Sans"/>
            </a:endParaRPr>
          </a:p>
          <a:p>
            <a:pPr indent="0" lvl="0" marL="0" rtl="0" algn="l">
              <a:spcBef>
                <a:spcPts val="500"/>
              </a:spcBef>
              <a:spcAft>
                <a:spcPts val="0"/>
              </a:spcAft>
              <a:buNone/>
            </a:pPr>
            <a:r>
              <a:rPr b="1" lang="en" sz="1200">
                <a:solidFill>
                  <a:srgbClr val="273540"/>
                </a:solidFill>
                <a:highlight>
                  <a:srgbClr val="FFFFFF"/>
                </a:highlight>
                <a:latin typeface="Open Sans"/>
                <a:ea typeface="Open Sans"/>
                <a:cs typeface="Open Sans"/>
                <a:sym typeface="Open Sans"/>
              </a:rPr>
              <a:t>Comparison to </a:t>
            </a:r>
            <a:r>
              <a:rPr b="1" lang="en" sz="1200">
                <a:solidFill>
                  <a:srgbClr val="273540"/>
                </a:solidFill>
                <a:highlight>
                  <a:srgbClr val="FFFFFF"/>
                </a:highlight>
                <a:latin typeface="Open Sans"/>
                <a:ea typeface="Open Sans"/>
                <a:cs typeface="Open Sans"/>
                <a:sym typeface="Open Sans"/>
              </a:rPr>
              <a:t>existing</a:t>
            </a:r>
            <a:r>
              <a:rPr b="1" lang="en" sz="1200">
                <a:solidFill>
                  <a:srgbClr val="273540"/>
                </a:solidFill>
                <a:highlight>
                  <a:srgbClr val="FFFFFF"/>
                </a:highlight>
                <a:latin typeface="Open Sans"/>
                <a:ea typeface="Open Sans"/>
                <a:cs typeface="Open Sans"/>
                <a:sym typeface="Open Sans"/>
              </a:rPr>
              <a:t> systems:</a:t>
            </a:r>
            <a:endParaRPr b="1" sz="1200">
              <a:solidFill>
                <a:srgbClr val="273540"/>
              </a:solidFill>
              <a:highlight>
                <a:srgbClr val="FFFFFF"/>
              </a:highlight>
              <a:latin typeface="Open Sans"/>
              <a:ea typeface="Open Sans"/>
              <a:cs typeface="Open Sans"/>
              <a:sym typeface="Open Sans"/>
            </a:endParaRPr>
          </a:p>
          <a:p>
            <a:pPr indent="-287655" lvl="0" marL="457200" rtl="0" algn="l">
              <a:spcBef>
                <a:spcPts val="500"/>
              </a:spcBef>
              <a:spcAft>
                <a:spcPts val="0"/>
              </a:spcAft>
              <a:buClr>
                <a:srgbClr val="273540"/>
              </a:buClr>
              <a:buSzPct val="100000"/>
              <a:buFont typeface="Open Sans"/>
              <a:buChar char="●"/>
            </a:pPr>
            <a:r>
              <a:rPr lang="en" sz="1200">
                <a:solidFill>
                  <a:srgbClr val="273540"/>
                </a:solidFill>
                <a:highlight>
                  <a:srgbClr val="FFFFFF"/>
                </a:highlight>
                <a:latin typeface="Open Sans"/>
                <a:ea typeface="Open Sans"/>
                <a:cs typeface="Open Sans"/>
                <a:sym typeface="Open Sans"/>
              </a:rPr>
              <a:t>Currently, there is one particular Ao3 user, toastystats, who reports on fandom metadata statistics (and provides tutorials of downloading fandom metadata directly from Ao3), but these reports not presented in an interactive dashboard. I would be writing a developing a program/process that would allow for scraping fandom metadata and then converting it to a more portable format for the purpose of data visualization and analysis.</a:t>
            </a:r>
            <a:endParaRPr sz="1200">
              <a:solidFill>
                <a:srgbClr val="273540"/>
              </a:solidFill>
              <a:highlight>
                <a:srgbClr val="FFFFFF"/>
              </a:highlight>
              <a:latin typeface="Open Sans"/>
              <a:ea typeface="Open Sans"/>
              <a:cs typeface="Open Sans"/>
              <a:sym typeface="Open Sans"/>
            </a:endParaRPr>
          </a:p>
          <a:p>
            <a:pPr indent="-287655" lvl="0" marL="457200" rtl="0" algn="l">
              <a:spcBef>
                <a:spcPts val="0"/>
              </a:spcBef>
              <a:spcAft>
                <a:spcPts val="0"/>
              </a:spcAft>
              <a:buClr>
                <a:srgbClr val="273540"/>
              </a:buClr>
              <a:buSzPct val="100000"/>
              <a:buFont typeface="Open Sans"/>
              <a:buChar char="●"/>
            </a:pPr>
            <a:r>
              <a:rPr lang="en" sz="1200">
                <a:solidFill>
                  <a:srgbClr val="273540"/>
                </a:solidFill>
                <a:highlight>
                  <a:srgbClr val="FFFFFF"/>
                </a:highlight>
                <a:latin typeface="Open Sans"/>
                <a:ea typeface="Open Sans"/>
                <a:cs typeface="Open Sans"/>
                <a:sym typeface="Open Sans"/>
              </a:rPr>
              <a:t>Relevant links:</a:t>
            </a:r>
            <a:endParaRPr sz="1200">
              <a:solidFill>
                <a:srgbClr val="273540"/>
              </a:solidFill>
              <a:highlight>
                <a:srgbClr val="FFFFFF"/>
              </a:highlight>
              <a:latin typeface="Open Sans"/>
              <a:ea typeface="Open Sans"/>
              <a:cs typeface="Open Sans"/>
              <a:sym typeface="Open Sans"/>
            </a:endParaRPr>
          </a:p>
          <a:p>
            <a:pPr indent="-287655" lvl="1" marL="914400" rtl="0" algn="l">
              <a:spcBef>
                <a:spcPts val="0"/>
              </a:spcBef>
              <a:spcAft>
                <a:spcPts val="0"/>
              </a:spcAft>
              <a:buClr>
                <a:srgbClr val="273540"/>
              </a:buClr>
              <a:buSzPct val="100000"/>
              <a:buFont typeface="Open Sans"/>
              <a:buChar char="○"/>
            </a:pPr>
            <a:r>
              <a:rPr lang="en" sz="1200" u="sng">
                <a:solidFill>
                  <a:schemeClr val="hlink"/>
                </a:solidFill>
                <a:highlight>
                  <a:srgbClr val="FFFFFF"/>
                </a:highlight>
                <a:latin typeface="Open Sans"/>
                <a:ea typeface="Open Sans"/>
                <a:cs typeface="Open Sans"/>
                <a:sym typeface="Open Sans"/>
                <a:hlinkClick r:id="rId3"/>
              </a:rPr>
              <a:t>https://archiveofourown.org/works/27804601/chapters/122214766</a:t>
            </a:r>
            <a:r>
              <a:rPr lang="en" sz="1200">
                <a:solidFill>
                  <a:srgbClr val="273540"/>
                </a:solidFill>
                <a:highlight>
                  <a:srgbClr val="FFFFFF"/>
                </a:highlight>
                <a:latin typeface="Open Sans"/>
                <a:ea typeface="Open Sans"/>
                <a:cs typeface="Open Sans"/>
                <a:sym typeface="Open Sans"/>
              </a:rPr>
              <a:t> </a:t>
            </a:r>
            <a:endParaRPr sz="1200">
              <a:solidFill>
                <a:srgbClr val="273540"/>
              </a:solidFill>
              <a:highlight>
                <a:srgbClr val="FFFFFF"/>
              </a:highlight>
              <a:latin typeface="Open Sans"/>
              <a:ea typeface="Open Sans"/>
              <a:cs typeface="Open Sans"/>
              <a:sym typeface="Open Sans"/>
            </a:endParaRPr>
          </a:p>
          <a:p>
            <a:pPr indent="-287655" lvl="1" marL="914400" rtl="0" algn="l">
              <a:spcBef>
                <a:spcPts val="0"/>
              </a:spcBef>
              <a:spcAft>
                <a:spcPts val="0"/>
              </a:spcAft>
              <a:buClr>
                <a:srgbClr val="273540"/>
              </a:buClr>
              <a:buSzPct val="100000"/>
              <a:buFont typeface="Open Sans"/>
              <a:buChar char="○"/>
            </a:pPr>
            <a:r>
              <a:rPr lang="en" sz="1200" u="sng">
                <a:solidFill>
                  <a:schemeClr val="hlink"/>
                </a:solidFill>
                <a:highlight>
                  <a:srgbClr val="FFFFFF"/>
                </a:highlight>
                <a:latin typeface="Open Sans"/>
                <a:ea typeface="Open Sans"/>
                <a:cs typeface="Open Sans"/>
                <a:sym typeface="Open Sans"/>
                <a:hlinkClick r:id="rId4"/>
              </a:rPr>
              <a:t>https://archiveofourown.org/works/62863873</a:t>
            </a:r>
            <a:r>
              <a:rPr lang="en" sz="1200">
                <a:solidFill>
                  <a:srgbClr val="273540"/>
                </a:solidFill>
                <a:highlight>
                  <a:srgbClr val="FFFFFF"/>
                </a:highlight>
                <a:latin typeface="Open Sans"/>
                <a:ea typeface="Open Sans"/>
                <a:cs typeface="Open Sans"/>
                <a:sym typeface="Open Sans"/>
              </a:rPr>
              <a:t> </a:t>
            </a:r>
            <a:endParaRPr>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pen Sans"/>
                <a:ea typeface="Open Sans"/>
                <a:cs typeface="Open Sans"/>
                <a:sym typeface="Open Sans"/>
              </a:rPr>
              <a:t>2) </a:t>
            </a:r>
            <a:r>
              <a:rPr lang="en">
                <a:latin typeface="Open Sans"/>
                <a:ea typeface="Open Sans"/>
                <a:cs typeface="Open Sans"/>
                <a:sym typeface="Open Sans"/>
              </a:rPr>
              <a:t>Information </a:t>
            </a:r>
            <a:r>
              <a:rPr lang="en">
                <a:latin typeface="Open Sans"/>
                <a:ea typeface="Open Sans"/>
                <a:cs typeface="Open Sans"/>
                <a:sym typeface="Open Sans"/>
              </a:rPr>
              <a:t>Wireframes</a:t>
            </a:r>
            <a:endParaRPr>
              <a:latin typeface="Open Sans"/>
              <a:ea typeface="Open Sans"/>
              <a:cs typeface="Open Sans"/>
              <a:sym typeface="Open Sans"/>
            </a:endParaRPr>
          </a:p>
        </p:txBody>
      </p:sp>
      <p:sp>
        <p:nvSpPr>
          <p:cNvPr id="67" name="Google Shape;67;p15"/>
          <p:cNvSpPr txBox="1"/>
          <p:nvPr>
            <p:ph idx="1" type="body"/>
          </p:nvPr>
        </p:nvSpPr>
        <p:spPr>
          <a:xfrm>
            <a:off x="300425" y="947100"/>
            <a:ext cx="8520600" cy="3815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200">
                <a:solidFill>
                  <a:srgbClr val="273540"/>
                </a:solidFill>
                <a:highlight>
                  <a:srgbClr val="FFFFFF"/>
                </a:highlight>
                <a:latin typeface="Open Sans"/>
                <a:ea typeface="Open Sans"/>
                <a:cs typeface="Open Sans"/>
                <a:sym typeface="Open Sans"/>
              </a:rPr>
              <a:t>I created a version of this very low-fidelity wireframe when the project scope included building a streamlit-based data dashboard. This goal proved too ambitious for the scope of the quarter, but the visualizations themselves are still wireframes of information product’s end use goal.</a:t>
            </a:r>
            <a:endParaRPr sz="1200">
              <a:solidFill>
                <a:srgbClr val="273540"/>
              </a:solidFill>
              <a:highlight>
                <a:srgbClr val="FFFFFF"/>
              </a:highlight>
              <a:latin typeface="Open Sans"/>
              <a:ea typeface="Open Sans"/>
              <a:cs typeface="Open Sans"/>
              <a:sym typeface="Open Sans"/>
            </a:endParaRPr>
          </a:p>
          <a:p>
            <a:pPr indent="0" lvl="0" marL="0" rtl="0" algn="l">
              <a:spcBef>
                <a:spcPts val="500"/>
              </a:spcBef>
              <a:spcAft>
                <a:spcPts val="0"/>
              </a:spcAft>
              <a:buNone/>
            </a:pPr>
            <a:r>
              <a:t/>
            </a:r>
            <a:endParaRPr sz="1200">
              <a:solidFill>
                <a:srgbClr val="273540"/>
              </a:solidFill>
              <a:highlight>
                <a:srgbClr val="FFFFFF"/>
              </a:highlight>
              <a:latin typeface="Open Sans"/>
              <a:ea typeface="Open Sans"/>
              <a:cs typeface="Open Sans"/>
              <a:sym typeface="Open Sans"/>
            </a:endParaRPr>
          </a:p>
          <a:p>
            <a:pPr indent="0" lvl="0" marL="0" rtl="0" algn="l">
              <a:spcBef>
                <a:spcPts val="500"/>
              </a:spcBef>
              <a:spcAft>
                <a:spcPts val="1200"/>
              </a:spcAft>
              <a:buNone/>
            </a:pPr>
            <a:r>
              <a:t/>
            </a:r>
            <a:endParaRPr>
              <a:latin typeface="Open Sans"/>
              <a:ea typeface="Open Sans"/>
              <a:cs typeface="Open Sans"/>
              <a:sym typeface="Open Sans"/>
            </a:endParaRPr>
          </a:p>
        </p:txBody>
      </p:sp>
      <p:sp>
        <p:nvSpPr>
          <p:cNvPr id="68" name="Google Shape;68;p15"/>
          <p:cNvSpPr/>
          <p:nvPr/>
        </p:nvSpPr>
        <p:spPr>
          <a:xfrm>
            <a:off x="1374750" y="1777575"/>
            <a:ext cx="6394500" cy="3097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9" name="Google Shape;69;p15" title="Points scored"/>
          <p:cNvPicPr preferRelativeResize="0"/>
          <p:nvPr/>
        </p:nvPicPr>
        <p:blipFill>
          <a:blip r:embed="rId3">
            <a:alphaModFix/>
          </a:blip>
          <a:stretch>
            <a:fillRect/>
          </a:stretch>
        </p:blipFill>
        <p:spPr>
          <a:xfrm>
            <a:off x="1695725" y="2660250"/>
            <a:ext cx="2736351" cy="1691975"/>
          </a:xfrm>
          <a:prstGeom prst="rect">
            <a:avLst/>
          </a:prstGeom>
          <a:noFill/>
          <a:ln>
            <a:noFill/>
          </a:ln>
        </p:spPr>
      </p:pic>
      <p:sp>
        <p:nvSpPr>
          <p:cNvPr id="70" name="Google Shape;70;p15"/>
          <p:cNvSpPr txBox="1"/>
          <p:nvPr/>
        </p:nvSpPr>
        <p:spPr>
          <a:xfrm>
            <a:off x="1695725" y="2034350"/>
            <a:ext cx="5730000" cy="45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Candela Obscura Fandom Visualizations</a:t>
            </a:r>
            <a:endParaRPr sz="1800">
              <a:solidFill>
                <a:schemeClr val="dk2"/>
              </a:solidFill>
            </a:endParaRPr>
          </a:p>
        </p:txBody>
      </p:sp>
      <p:pic>
        <p:nvPicPr>
          <p:cNvPr id="71" name="Google Shape;71;p15" title="Points scored"/>
          <p:cNvPicPr preferRelativeResize="0"/>
          <p:nvPr/>
        </p:nvPicPr>
        <p:blipFill>
          <a:blip r:embed="rId4">
            <a:alphaModFix/>
          </a:blip>
          <a:stretch>
            <a:fillRect/>
          </a:stretch>
        </p:blipFill>
        <p:spPr>
          <a:xfrm>
            <a:off x="4634100" y="2660250"/>
            <a:ext cx="2736351" cy="169197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pen Sans"/>
                <a:ea typeface="Open Sans"/>
                <a:cs typeface="Open Sans"/>
                <a:sym typeface="Open Sans"/>
              </a:rPr>
              <a:t>3</a:t>
            </a:r>
            <a:r>
              <a:rPr lang="en">
                <a:latin typeface="Open Sans"/>
                <a:ea typeface="Open Sans"/>
                <a:cs typeface="Open Sans"/>
                <a:sym typeface="Open Sans"/>
              </a:rPr>
              <a:t>) Description of Main Concepts</a:t>
            </a:r>
            <a:endParaRPr>
              <a:latin typeface="Open Sans"/>
              <a:ea typeface="Open Sans"/>
              <a:cs typeface="Open Sans"/>
              <a:sym typeface="Open Sans"/>
            </a:endParaRPr>
          </a:p>
        </p:txBody>
      </p:sp>
      <p:sp>
        <p:nvSpPr>
          <p:cNvPr id="77" name="Google Shape;77;p16"/>
          <p:cNvSpPr txBox="1"/>
          <p:nvPr>
            <p:ph idx="1" type="body"/>
          </p:nvPr>
        </p:nvSpPr>
        <p:spPr>
          <a:xfrm>
            <a:off x="311700" y="1064225"/>
            <a:ext cx="8520600" cy="39390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i="1" lang="en" sz="1200">
                <a:solidFill>
                  <a:srgbClr val="273540"/>
                </a:solidFill>
                <a:highlight>
                  <a:srgbClr val="FFFFFF"/>
                </a:highlight>
                <a:latin typeface="Open Sans"/>
                <a:ea typeface="Open Sans"/>
                <a:cs typeface="Open Sans"/>
                <a:sym typeface="Open Sans"/>
              </a:rPr>
              <a:t>Content Metadata:</a:t>
            </a:r>
            <a:endParaRPr i="1" sz="1200">
              <a:solidFill>
                <a:srgbClr val="273540"/>
              </a:solidFill>
              <a:highlight>
                <a:srgbClr val="FFFFFF"/>
              </a:highlight>
              <a:latin typeface="Open Sans"/>
              <a:ea typeface="Open Sans"/>
              <a:cs typeface="Open Sans"/>
              <a:sym typeface="Open Sans"/>
            </a:endParaRPr>
          </a:p>
          <a:p>
            <a:pPr indent="-299085" lvl="0" marL="457200" rtl="0" algn="l">
              <a:spcBef>
                <a:spcPts val="500"/>
              </a:spcBef>
              <a:spcAft>
                <a:spcPts val="0"/>
              </a:spcAft>
              <a:buClr>
                <a:srgbClr val="273540"/>
              </a:buClr>
              <a:buSzPct val="100000"/>
              <a:buFont typeface="Open Sans"/>
              <a:buChar char="●"/>
            </a:pPr>
            <a:r>
              <a:rPr b="1" lang="en" sz="1200">
                <a:solidFill>
                  <a:srgbClr val="273540"/>
                </a:solidFill>
                <a:highlight>
                  <a:srgbClr val="FFFFFF"/>
                </a:highlight>
                <a:latin typeface="Open Sans"/>
                <a:ea typeface="Open Sans"/>
                <a:cs typeface="Open Sans"/>
                <a:sym typeface="Open Sans"/>
              </a:rPr>
              <a:t>Fandom</a:t>
            </a:r>
            <a:r>
              <a:rPr lang="en" sz="1200">
                <a:solidFill>
                  <a:srgbClr val="273540"/>
                </a:solidFill>
                <a:highlight>
                  <a:srgbClr val="FFFFFF"/>
                </a:highlight>
                <a:latin typeface="Open Sans"/>
                <a:ea typeface="Open Sans"/>
                <a:cs typeface="Open Sans"/>
                <a:sym typeface="Open Sans"/>
              </a:rPr>
              <a:t> - the specific intellectual property that the fanworks are based on</a:t>
            </a:r>
            <a:endParaRPr sz="1200">
              <a:solidFill>
                <a:srgbClr val="273540"/>
              </a:solidFill>
              <a:highlight>
                <a:srgbClr val="FFFFFF"/>
              </a:highlight>
              <a:latin typeface="Open Sans"/>
              <a:ea typeface="Open Sans"/>
              <a:cs typeface="Open Sans"/>
              <a:sym typeface="Open Sans"/>
            </a:endParaRPr>
          </a:p>
          <a:p>
            <a:pPr indent="-299085" lvl="0" marL="457200" rtl="0" algn="l">
              <a:spcBef>
                <a:spcPts val="0"/>
              </a:spcBef>
              <a:spcAft>
                <a:spcPts val="0"/>
              </a:spcAft>
              <a:buClr>
                <a:srgbClr val="273540"/>
              </a:buClr>
              <a:buSzPct val="100000"/>
              <a:buFont typeface="Open Sans"/>
              <a:buChar char="●"/>
            </a:pPr>
            <a:r>
              <a:rPr b="1" lang="en" sz="1200">
                <a:solidFill>
                  <a:srgbClr val="273540"/>
                </a:solidFill>
                <a:highlight>
                  <a:srgbClr val="FFFFFF"/>
                </a:highlight>
                <a:latin typeface="Open Sans"/>
                <a:ea typeface="Open Sans"/>
                <a:cs typeface="Open Sans"/>
                <a:sym typeface="Open Sans"/>
              </a:rPr>
              <a:t>Rating</a:t>
            </a:r>
            <a:r>
              <a:rPr lang="en" sz="1200">
                <a:solidFill>
                  <a:srgbClr val="273540"/>
                </a:solidFill>
                <a:highlight>
                  <a:srgbClr val="FFFFFF"/>
                </a:highlight>
                <a:latin typeface="Open Sans"/>
                <a:ea typeface="Open Sans"/>
                <a:cs typeface="Open Sans"/>
                <a:sym typeface="Open Sans"/>
              </a:rPr>
              <a:t> - analogous to film ratings, goes from G (General Audiences) to E (Explicit)</a:t>
            </a:r>
            <a:endParaRPr sz="1200">
              <a:solidFill>
                <a:srgbClr val="273540"/>
              </a:solidFill>
              <a:highlight>
                <a:srgbClr val="FFFFFF"/>
              </a:highlight>
              <a:latin typeface="Open Sans"/>
              <a:ea typeface="Open Sans"/>
              <a:cs typeface="Open Sans"/>
              <a:sym typeface="Open Sans"/>
            </a:endParaRPr>
          </a:p>
          <a:p>
            <a:pPr indent="-299085" lvl="0" marL="457200" rtl="0" algn="l">
              <a:spcBef>
                <a:spcPts val="0"/>
              </a:spcBef>
              <a:spcAft>
                <a:spcPts val="0"/>
              </a:spcAft>
              <a:buClr>
                <a:srgbClr val="273540"/>
              </a:buClr>
              <a:buSzPct val="100000"/>
              <a:buFont typeface="Open Sans"/>
              <a:buChar char="●"/>
            </a:pPr>
            <a:r>
              <a:rPr b="1" lang="en" sz="1200">
                <a:solidFill>
                  <a:srgbClr val="273540"/>
                </a:solidFill>
                <a:highlight>
                  <a:srgbClr val="FFFFFF"/>
                </a:highlight>
                <a:latin typeface="Open Sans"/>
                <a:ea typeface="Open Sans"/>
                <a:cs typeface="Open Sans"/>
                <a:sym typeface="Open Sans"/>
              </a:rPr>
              <a:t>Archive Warning</a:t>
            </a:r>
            <a:r>
              <a:rPr lang="en" sz="1200">
                <a:solidFill>
                  <a:srgbClr val="273540"/>
                </a:solidFill>
                <a:highlight>
                  <a:srgbClr val="FFFFFF"/>
                </a:highlight>
                <a:latin typeface="Open Sans"/>
                <a:ea typeface="Open Sans"/>
                <a:cs typeface="Open Sans"/>
                <a:sym typeface="Open Sans"/>
              </a:rPr>
              <a:t> - sensitive content warnings for things like Major Character Death, Graphic Violence, etc.</a:t>
            </a:r>
            <a:endParaRPr sz="1200">
              <a:solidFill>
                <a:srgbClr val="273540"/>
              </a:solidFill>
              <a:highlight>
                <a:srgbClr val="FFFFFF"/>
              </a:highlight>
              <a:latin typeface="Open Sans"/>
              <a:ea typeface="Open Sans"/>
              <a:cs typeface="Open Sans"/>
              <a:sym typeface="Open Sans"/>
            </a:endParaRPr>
          </a:p>
          <a:p>
            <a:pPr indent="-299085" lvl="0" marL="457200" rtl="0" algn="l">
              <a:spcBef>
                <a:spcPts val="0"/>
              </a:spcBef>
              <a:spcAft>
                <a:spcPts val="0"/>
              </a:spcAft>
              <a:buClr>
                <a:srgbClr val="273540"/>
              </a:buClr>
              <a:buSzPct val="100000"/>
              <a:buFont typeface="Open Sans"/>
              <a:buChar char="●"/>
            </a:pPr>
            <a:r>
              <a:rPr b="1" lang="en" sz="1200">
                <a:solidFill>
                  <a:srgbClr val="273540"/>
                </a:solidFill>
                <a:highlight>
                  <a:srgbClr val="FFFFFF"/>
                </a:highlight>
                <a:latin typeface="Open Sans"/>
                <a:ea typeface="Open Sans"/>
                <a:cs typeface="Open Sans"/>
                <a:sym typeface="Open Sans"/>
              </a:rPr>
              <a:t>Category</a:t>
            </a:r>
            <a:r>
              <a:rPr lang="en" sz="1200">
                <a:solidFill>
                  <a:srgbClr val="273540"/>
                </a:solidFill>
                <a:highlight>
                  <a:srgbClr val="FFFFFF"/>
                </a:highlight>
                <a:latin typeface="Open Sans"/>
                <a:ea typeface="Open Sans"/>
                <a:cs typeface="Open Sans"/>
                <a:sym typeface="Open Sans"/>
              </a:rPr>
              <a:t> - indicates gender dynamic &amp; nature of </a:t>
            </a:r>
            <a:r>
              <a:rPr lang="en" sz="1200">
                <a:solidFill>
                  <a:srgbClr val="273540"/>
                </a:solidFill>
                <a:highlight>
                  <a:schemeClr val="lt1"/>
                </a:highlight>
                <a:latin typeface="Open Sans"/>
                <a:ea typeface="Open Sans"/>
                <a:cs typeface="Open Sans"/>
                <a:sym typeface="Open Sans"/>
              </a:rPr>
              <a:t>relationships between characters (romantic, platonic, etc.)</a:t>
            </a:r>
            <a:endParaRPr sz="1200">
              <a:solidFill>
                <a:srgbClr val="273540"/>
              </a:solidFill>
              <a:highlight>
                <a:srgbClr val="FFFFFF"/>
              </a:highlight>
              <a:latin typeface="Open Sans"/>
              <a:ea typeface="Open Sans"/>
              <a:cs typeface="Open Sans"/>
              <a:sym typeface="Open Sans"/>
            </a:endParaRPr>
          </a:p>
          <a:p>
            <a:pPr indent="-299085" lvl="0" marL="457200" rtl="0" algn="l">
              <a:spcBef>
                <a:spcPts val="0"/>
              </a:spcBef>
              <a:spcAft>
                <a:spcPts val="0"/>
              </a:spcAft>
              <a:buClr>
                <a:srgbClr val="273540"/>
              </a:buClr>
              <a:buSzPct val="100000"/>
              <a:buFont typeface="Open Sans"/>
              <a:buChar char="●"/>
            </a:pPr>
            <a:r>
              <a:rPr b="1" lang="en" sz="1200">
                <a:solidFill>
                  <a:srgbClr val="273540"/>
                </a:solidFill>
                <a:highlight>
                  <a:srgbClr val="FFFFFF"/>
                </a:highlight>
                <a:latin typeface="Open Sans"/>
                <a:ea typeface="Open Sans"/>
                <a:cs typeface="Open Sans"/>
                <a:sym typeface="Open Sans"/>
              </a:rPr>
              <a:t>Relationship(s)</a:t>
            </a:r>
            <a:r>
              <a:rPr lang="en" sz="1200">
                <a:solidFill>
                  <a:srgbClr val="273540"/>
                </a:solidFill>
                <a:highlight>
                  <a:srgbClr val="FFFFFF"/>
                </a:highlight>
                <a:latin typeface="Open Sans"/>
                <a:ea typeface="Open Sans"/>
                <a:cs typeface="Open Sans"/>
                <a:sym typeface="Open Sans"/>
              </a:rPr>
              <a:t> - tags for relationships between specific characters (e.g. “Sherlock Holmes / John Watson”)</a:t>
            </a:r>
            <a:endParaRPr sz="1200">
              <a:solidFill>
                <a:srgbClr val="273540"/>
              </a:solidFill>
              <a:highlight>
                <a:srgbClr val="FFFFFF"/>
              </a:highlight>
              <a:latin typeface="Open Sans"/>
              <a:ea typeface="Open Sans"/>
              <a:cs typeface="Open Sans"/>
              <a:sym typeface="Open Sans"/>
            </a:endParaRPr>
          </a:p>
          <a:p>
            <a:pPr indent="-299085" lvl="0" marL="457200" rtl="0" algn="l">
              <a:spcBef>
                <a:spcPts val="0"/>
              </a:spcBef>
              <a:spcAft>
                <a:spcPts val="0"/>
              </a:spcAft>
              <a:buClr>
                <a:srgbClr val="273540"/>
              </a:buClr>
              <a:buSzPct val="100000"/>
              <a:buFont typeface="Open Sans"/>
              <a:buChar char="●"/>
            </a:pPr>
            <a:r>
              <a:rPr b="1" lang="en" sz="1200">
                <a:solidFill>
                  <a:srgbClr val="273540"/>
                </a:solidFill>
                <a:highlight>
                  <a:srgbClr val="FFFFFF"/>
                </a:highlight>
                <a:latin typeface="Open Sans"/>
                <a:ea typeface="Open Sans"/>
                <a:cs typeface="Open Sans"/>
                <a:sym typeface="Open Sans"/>
              </a:rPr>
              <a:t>Freeform / Additional Tags </a:t>
            </a:r>
            <a:r>
              <a:rPr lang="en" sz="1200">
                <a:solidFill>
                  <a:srgbClr val="273540"/>
                </a:solidFill>
                <a:highlight>
                  <a:srgbClr val="FFFFFF"/>
                </a:highlight>
                <a:latin typeface="Open Sans"/>
                <a:ea typeface="Open Sans"/>
                <a:cs typeface="Open Sans"/>
                <a:sym typeface="Open Sans"/>
              </a:rPr>
              <a:t>- any freeform tags that do not come from an Ao3 controlled list</a:t>
            </a:r>
            <a:endParaRPr sz="1200">
              <a:solidFill>
                <a:srgbClr val="273540"/>
              </a:solidFill>
              <a:highlight>
                <a:srgbClr val="FFFFFF"/>
              </a:highlight>
              <a:latin typeface="Open Sans"/>
              <a:ea typeface="Open Sans"/>
              <a:cs typeface="Open Sans"/>
              <a:sym typeface="Open Sans"/>
            </a:endParaRPr>
          </a:p>
          <a:p>
            <a:pPr indent="0" lvl="0" marL="0" rtl="0" algn="l">
              <a:spcBef>
                <a:spcPts val="500"/>
              </a:spcBef>
              <a:spcAft>
                <a:spcPts val="0"/>
              </a:spcAft>
              <a:buNone/>
            </a:pPr>
            <a:r>
              <a:rPr i="1" lang="en" sz="1200">
                <a:solidFill>
                  <a:srgbClr val="273540"/>
                </a:solidFill>
                <a:highlight>
                  <a:srgbClr val="FFFFFF"/>
                </a:highlight>
                <a:latin typeface="Open Sans"/>
                <a:ea typeface="Open Sans"/>
                <a:cs typeface="Open Sans"/>
                <a:sym typeface="Open Sans"/>
              </a:rPr>
              <a:t>Publication Stats:</a:t>
            </a:r>
            <a:endParaRPr i="1" sz="1200">
              <a:solidFill>
                <a:srgbClr val="273540"/>
              </a:solidFill>
              <a:highlight>
                <a:srgbClr val="FFFFFF"/>
              </a:highlight>
              <a:latin typeface="Open Sans"/>
              <a:ea typeface="Open Sans"/>
              <a:cs typeface="Open Sans"/>
              <a:sym typeface="Open Sans"/>
            </a:endParaRPr>
          </a:p>
          <a:p>
            <a:pPr indent="-299085" lvl="0" marL="457200" rtl="0" algn="l">
              <a:spcBef>
                <a:spcPts val="500"/>
              </a:spcBef>
              <a:spcAft>
                <a:spcPts val="0"/>
              </a:spcAft>
              <a:buClr>
                <a:srgbClr val="273540"/>
              </a:buClr>
              <a:buSzPct val="100000"/>
              <a:buFont typeface="Open Sans"/>
              <a:buChar char="●"/>
            </a:pPr>
            <a:r>
              <a:rPr b="1" lang="en" sz="1200">
                <a:solidFill>
                  <a:srgbClr val="273540"/>
                </a:solidFill>
                <a:highlight>
                  <a:srgbClr val="FFFFFF"/>
                </a:highlight>
                <a:latin typeface="Open Sans"/>
                <a:ea typeface="Open Sans"/>
                <a:cs typeface="Open Sans"/>
                <a:sym typeface="Open Sans"/>
              </a:rPr>
              <a:t>Date Published</a:t>
            </a:r>
            <a:r>
              <a:rPr lang="en" sz="1200">
                <a:solidFill>
                  <a:srgbClr val="273540"/>
                </a:solidFill>
                <a:highlight>
                  <a:srgbClr val="FFFFFF"/>
                </a:highlight>
                <a:latin typeface="Open Sans"/>
                <a:ea typeface="Open Sans"/>
                <a:cs typeface="Open Sans"/>
                <a:sym typeface="Open Sans"/>
              </a:rPr>
              <a:t> - date the fanwork was published</a:t>
            </a:r>
            <a:endParaRPr sz="1200">
              <a:solidFill>
                <a:srgbClr val="273540"/>
              </a:solidFill>
              <a:highlight>
                <a:srgbClr val="FFFFFF"/>
              </a:highlight>
              <a:latin typeface="Open Sans"/>
              <a:ea typeface="Open Sans"/>
              <a:cs typeface="Open Sans"/>
              <a:sym typeface="Open Sans"/>
            </a:endParaRPr>
          </a:p>
          <a:p>
            <a:pPr indent="-299085" lvl="0" marL="457200" rtl="0" algn="l">
              <a:spcBef>
                <a:spcPts val="0"/>
              </a:spcBef>
              <a:spcAft>
                <a:spcPts val="0"/>
              </a:spcAft>
              <a:buClr>
                <a:srgbClr val="273540"/>
              </a:buClr>
              <a:buSzPct val="100000"/>
              <a:buFont typeface="Open Sans"/>
              <a:buChar char="●"/>
            </a:pPr>
            <a:r>
              <a:rPr b="1" lang="en" sz="1200">
                <a:solidFill>
                  <a:srgbClr val="273540"/>
                </a:solidFill>
                <a:highlight>
                  <a:srgbClr val="FFFFFF"/>
                </a:highlight>
                <a:latin typeface="Open Sans"/>
                <a:ea typeface="Open Sans"/>
                <a:cs typeface="Open Sans"/>
                <a:sym typeface="Open Sans"/>
              </a:rPr>
              <a:t># Chapters</a:t>
            </a:r>
            <a:r>
              <a:rPr lang="en" sz="1200">
                <a:solidFill>
                  <a:srgbClr val="273540"/>
                </a:solidFill>
                <a:highlight>
                  <a:srgbClr val="FFFFFF"/>
                </a:highlight>
                <a:latin typeface="Open Sans"/>
                <a:ea typeface="Open Sans"/>
                <a:cs typeface="Open Sans"/>
                <a:sym typeface="Open Sans"/>
              </a:rPr>
              <a:t> - the number of chapters published vs. the number of chapters planned (e.g. “1/1” indicates one chapter planned, one chapter published, implying that the work is complete)</a:t>
            </a:r>
            <a:endParaRPr sz="1200">
              <a:solidFill>
                <a:srgbClr val="273540"/>
              </a:solidFill>
              <a:highlight>
                <a:srgbClr val="FFFFFF"/>
              </a:highlight>
              <a:latin typeface="Open Sans"/>
              <a:ea typeface="Open Sans"/>
              <a:cs typeface="Open Sans"/>
              <a:sym typeface="Open Sans"/>
            </a:endParaRPr>
          </a:p>
          <a:p>
            <a:pPr indent="-299085" lvl="0" marL="457200" rtl="0" algn="l">
              <a:spcBef>
                <a:spcPts val="0"/>
              </a:spcBef>
              <a:spcAft>
                <a:spcPts val="0"/>
              </a:spcAft>
              <a:buClr>
                <a:srgbClr val="273540"/>
              </a:buClr>
              <a:buSzPct val="100000"/>
              <a:buFont typeface="Open Sans"/>
              <a:buChar char="●"/>
            </a:pPr>
            <a:r>
              <a:rPr b="1" lang="en" sz="1200">
                <a:solidFill>
                  <a:srgbClr val="273540"/>
                </a:solidFill>
                <a:highlight>
                  <a:srgbClr val="FFFFFF"/>
                </a:highlight>
                <a:latin typeface="Open Sans"/>
                <a:ea typeface="Open Sans"/>
                <a:cs typeface="Open Sans"/>
                <a:sym typeface="Open Sans"/>
              </a:rPr>
              <a:t>Date Updated</a:t>
            </a:r>
            <a:r>
              <a:rPr lang="en" sz="1200">
                <a:solidFill>
                  <a:srgbClr val="273540"/>
                </a:solidFill>
                <a:highlight>
                  <a:srgbClr val="FFFFFF"/>
                </a:highlight>
                <a:latin typeface="Open Sans"/>
                <a:ea typeface="Open Sans"/>
                <a:cs typeface="Open Sans"/>
                <a:sym typeface="Open Sans"/>
              </a:rPr>
              <a:t> - date the fanwork was most recently updated (i.e. if the work has multiple chapters or if the author has made edits down the line) </a:t>
            </a:r>
            <a:endParaRPr sz="1200">
              <a:solidFill>
                <a:srgbClr val="273540"/>
              </a:solidFill>
              <a:highlight>
                <a:srgbClr val="FFFFFF"/>
              </a:highlight>
              <a:latin typeface="Open Sans"/>
              <a:ea typeface="Open Sans"/>
              <a:cs typeface="Open Sans"/>
              <a:sym typeface="Open Sans"/>
            </a:endParaRPr>
          </a:p>
          <a:p>
            <a:pPr indent="-299085" lvl="0" marL="457200" rtl="0" algn="l">
              <a:spcBef>
                <a:spcPts val="0"/>
              </a:spcBef>
              <a:spcAft>
                <a:spcPts val="0"/>
              </a:spcAft>
              <a:buClr>
                <a:srgbClr val="273540"/>
              </a:buClr>
              <a:buSzPct val="100000"/>
              <a:buFont typeface="Open Sans"/>
              <a:buChar char="●"/>
            </a:pPr>
            <a:r>
              <a:rPr b="1" lang="en" sz="1200">
                <a:solidFill>
                  <a:srgbClr val="273540"/>
                </a:solidFill>
                <a:highlight>
                  <a:srgbClr val="FFFFFF"/>
                </a:highlight>
                <a:latin typeface="Open Sans"/>
                <a:ea typeface="Open Sans"/>
                <a:cs typeface="Open Sans"/>
                <a:sym typeface="Open Sans"/>
              </a:rPr>
              <a:t>Word Count</a:t>
            </a:r>
            <a:r>
              <a:rPr lang="en" sz="1200">
                <a:solidFill>
                  <a:srgbClr val="273540"/>
                </a:solidFill>
                <a:highlight>
                  <a:srgbClr val="FFFFFF"/>
                </a:highlight>
                <a:latin typeface="Open Sans"/>
                <a:ea typeface="Open Sans"/>
                <a:cs typeface="Open Sans"/>
                <a:sym typeface="Open Sans"/>
              </a:rPr>
              <a:t> - the number of words in the fanwork (note - Ao3 is primarily, though not exclusively, a repository for fanfiction / written fanworks)</a:t>
            </a:r>
            <a:endParaRPr sz="1200">
              <a:solidFill>
                <a:srgbClr val="273540"/>
              </a:solidFill>
              <a:highlight>
                <a:srgbClr val="FFFFFF"/>
              </a:highlight>
              <a:latin typeface="Open Sans"/>
              <a:ea typeface="Open Sans"/>
              <a:cs typeface="Open Sans"/>
              <a:sym typeface="Open Sans"/>
            </a:endParaRPr>
          </a:p>
          <a:p>
            <a:pPr indent="0" lvl="0" marL="0" rtl="0" algn="l">
              <a:spcBef>
                <a:spcPts val="500"/>
              </a:spcBef>
              <a:spcAft>
                <a:spcPts val="0"/>
              </a:spcAft>
              <a:buNone/>
            </a:pPr>
            <a:r>
              <a:rPr i="1" lang="en" sz="1200">
                <a:solidFill>
                  <a:srgbClr val="273540"/>
                </a:solidFill>
                <a:highlight>
                  <a:srgbClr val="FFFFFF"/>
                </a:highlight>
                <a:latin typeface="Open Sans"/>
                <a:ea typeface="Open Sans"/>
                <a:cs typeface="Open Sans"/>
                <a:sym typeface="Open Sans"/>
              </a:rPr>
              <a:t>Indicator Stats for Reader Interest &amp; Engagement:</a:t>
            </a:r>
            <a:endParaRPr i="1" sz="1200">
              <a:solidFill>
                <a:srgbClr val="273540"/>
              </a:solidFill>
              <a:highlight>
                <a:srgbClr val="FFFFFF"/>
              </a:highlight>
              <a:latin typeface="Open Sans"/>
              <a:ea typeface="Open Sans"/>
              <a:cs typeface="Open Sans"/>
              <a:sym typeface="Open Sans"/>
            </a:endParaRPr>
          </a:p>
          <a:p>
            <a:pPr indent="-299085" lvl="0" marL="457200" rtl="0" algn="l">
              <a:spcBef>
                <a:spcPts val="500"/>
              </a:spcBef>
              <a:spcAft>
                <a:spcPts val="0"/>
              </a:spcAft>
              <a:buClr>
                <a:srgbClr val="273540"/>
              </a:buClr>
              <a:buSzPct val="100000"/>
              <a:buFont typeface="Open Sans"/>
              <a:buChar char="●"/>
            </a:pPr>
            <a:r>
              <a:rPr b="1" lang="en" sz="1200">
                <a:solidFill>
                  <a:srgbClr val="273540"/>
                </a:solidFill>
                <a:highlight>
                  <a:srgbClr val="FFFFFF"/>
                </a:highlight>
                <a:latin typeface="Open Sans"/>
                <a:ea typeface="Open Sans"/>
                <a:cs typeface="Open Sans"/>
                <a:sym typeface="Open Sans"/>
              </a:rPr>
              <a:t>Kudos</a:t>
            </a:r>
            <a:r>
              <a:rPr lang="en" sz="1200">
                <a:solidFill>
                  <a:srgbClr val="273540"/>
                </a:solidFill>
                <a:highlight>
                  <a:srgbClr val="FFFFFF"/>
                </a:highlight>
                <a:latin typeface="Open Sans"/>
                <a:ea typeface="Open Sans"/>
                <a:cs typeface="Open Sans"/>
                <a:sym typeface="Open Sans"/>
              </a:rPr>
              <a:t> - akin to “likes” on other social media </a:t>
            </a:r>
            <a:endParaRPr sz="1200">
              <a:solidFill>
                <a:srgbClr val="273540"/>
              </a:solidFill>
              <a:highlight>
                <a:srgbClr val="FFFFFF"/>
              </a:highlight>
              <a:latin typeface="Open Sans"/>
              <a:ea typeface="Open Sans"/>
              <a:cs typeface="Open Sans"/>
              <a:sym typeface="Open Sans"/>
            </a:endParaRPr>
          </a:p>
          <a:p>
            <a:pPr indent="-299085" lvl="0" marL="457200" rtl="0" algn="l">
              <a:spcBef>
                <a:spcPts val="0"/>
              </a:spcBef>
              <a:spcAft>
                <a:spcPts val="0"/>
              </a:spcAft>
              <a:buClr>
                <a:srgbClr val="273540"/>
              </a:buClr>
              <a:buSzPct val="100000"/>
              <a:buFont typeface="Open Sans"/>
              <a:buChar char="●"/>
            </a:pPr>
            <a:r>
              <a:rPr b="1" lang="en" sz="1200">
                <a:solidFill>
                  <a:srgbClr val="273540"/>
                </a:solidFill>
                <a:highlight>
                  <a:srgbClr val="FFFFFF"/>
                </a:highlight>
                <a:latin typeface="Open Sans"/>
                <a:ea typeface="Open Sans"/>
                <a:cs typeface="Open Sans"/>
                <a:sym typeface="Open Sans"/>
              </a:rPr>
              <a:t>Comments</a:t>
            </a:r>
            <a:r>
              <a:rPr lang="en" sz="1200">
                <a:solidFill>
                  <a:srgbClr val="273540"/>
                </a:solidFill>
                <a:highlight>
                  <a:srgbClr val="FFFFFF"/>
                </a:highlight>
                <a:latin typeface="Open Sans"/>
                <a:ea typeface="Open Sans"/>
                <a:cs typeface="Open Sans"/>
                <a:sym typeface="Open Sans"/>
              </a:rPr>
              <a:t> - specific reader feedback beyond kudos - indicates reader interest and engagement</a:t>
            </a:r>
            <a:endParaRPr sz="1200">
              <a:solidFill>
                <a:srgbClr val="273540"/>
              </a:solidFill>
              <a:highlight>
                <a:srgbClr val="FFFFFF"/>
              </a:highlight>
              <a:latin typeface="Open Sans"/>
              <a:ea typeface="Open Sans"/>
              <a:cs typeface="Open Sans"/>
              <a:sym typeface="Open Sans"/>
            </a:endParaRPr>
          </a:p>
          <a:p>
            <a:pPr indent="-299085" lvl="0" marL="457200" rtl="0" algn="l">
              <a:spcBef>
                <a:spcPts val="0"/>
              </a:spcBef>
              <a:spcAft>
                <a:spcPts val="0"/>
              </a:spcAft>
              <a:buClr>
                <a:srgbClr val="273540"/>
              </a:buClr>
              <a:buSzPct val="100000"/>
              <a:buFont typeface="Open Sans"/>
              <a:buChar char="●"/>
            </a:pPr>
            <a:r>
              <a:rPr b="1" lang="en" sz="1200">
                <a:solidFill>
                  <a:srgbClr val="273540"/>
                </a:solidFill>
                <a:highlight>
                  <a:srgbClr val="FFFFFF"/>
                </a:highlight>
                <a:latin typeface="Open Sans"/>
                <a:ea typeface="Open Sans"/>
                <a:cs typeface="Open Sans"/>
                <a:sym typeface="Open Sans"/>
              </a:rPr>
              <a:t>Bookmarks</a:t>
            </a:r>
            <a:r>
              <a:rPr lang="en" sz="1200">
                <a:solidFill>
                  <a:srgbClr val="273540"/>
                </a:solidFill>
                <a:highlight>
                  <a:srgbClr val="FFFFFF"/>
                </a:highlight>
                <a:latin typeface="Open Sans"/>
                <a:ea typeface="Open Sans"/>
                <a:cs typeface="Open Sans"/>
                <a:sym typeface="Open Sans"/>
              </a:rPr>
              <a:t> - whether other Ao3 account holders have saved / bookmarked the work in their account to return and reread later</a:t>
            </a:r>
            <a:endParaRPr sz="1200">
              <a:solidFill>
                <a:srgbClr val="273540"/>
              </a:solidFill>
              <a:highlight>
                <a:srgbClr val="FFFFFF"/>
              </a:highlight>
              <a:latin typeface="Open Sans"/>
              <a:ea typeface="Open Sans"/>
              <a:cs typeface="Open Sans"/>
              <a:sym typeface="Open Sans"/>
            </a:endParaRPr>
          </a:p>
          <a:p>
            <a:pPr indent="-299085" lvl="0" marL="457200" rtl="0" algn="l">
              <a:spcBef>
                <a:spcPts val="0"/>
              </a:spcBef>
              <a:spcAft>
                <a:spcPts val="0"/>
              </a:spcAft>
              <a:buClr>
                <a:srgbClr val="273540"/>
              </a:buClr>
              <a:buSzPct val="100000"/>
              <a:buFont typeface="Open Sans"/>
              <a:buChar char="●"/>
            </a:pPr>
            <a:r>
              <a:rPr b="1" lang="en" sz="1200">
                <a:solidFill>
                  <a:srgbClr val="273540"/>
                </a:solidFill>
                <a:highlight>
                  <a:srgbClr val="FFFFFF"/>
                </a:highlight>
                <a:latin typeface="Open Sans"/>
                <a:ea typeface="Open Sans"/>
                <a:cs typeface="Open Sans"/>
                <a:sym typeface="Open Sans"/>
              </a:rPr>
              <a:t>Hits</a:t>
            </a:r>
            <a:r>
              <a:rPr lang="en" sz="1200">
                <a:solidFill>
                  <a:srgbClr val="273540"/>
                </a:solidFill>
                <a:highlight>
                  <a:srgbClr val="FFFFFF"/>
                </a:highlight>
                <a:latin typeface="Open Sans"/>
                <a:ea typeface="Open Sans"/>
                <a:cs typeface="Open Sans"/>
                <a:sym typeface="Open Sans"/>
              </a:rPr>
              <a:t> - number of clicks on the fanwork’s URI / visits to the fanwork’s webpage</a:t>
            </a:r>
            <a:endParaRPr>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pen Sans"/>
                <a:ea typeface="Open Sans"/>
                <a:cs typeface="Open Sans"/>
                <a:sym typeface="Open Sans"/>
              </a:rPr>
              <a:t>4) Basic System Architecture</a:t>
            </a:r>
            <a:endParaRPr>
              <a:latin typeface="Open Sans"/>
              <a:ea typeface="Open Sans"/>
              <a:cs typeface="Open Sans"/>
              <a:sym typeface="Open Sans"/>
            </a:endParaRPr>
          </a:p>
        </p:txBody>
      </p:sp>
      <p:sp>
        <p:nvSpPr>
          <p:cNvPr id="83" name="Google Shape;83;p17"/>
          <p:cNvSpPr txBox="1"/>
          <p:nvPr>
            <p:ph idx="1" type="body"/>
          </p:nvPr>
        </p:nvSpPr>
        <p:spPr>
          <a:xfrm>
            <a:off x="311700" y="1152475"/>
            <a:ext cx="83004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200">
                <a:solidFill>
                  <a:srgbClr val="273540"/>
                </a:solidFill>
                <a:highlight>
                  <a:srgbClr val="FFFFFF"/>
                </a:highlight>
                <a:latin typeface="Open Sans"/>
                <a:ea typeface="Open Sans"/>
                <a:cs typeface="Open Sans"/>
                <a:sym typeface="Open Sans"/>
              </a:rPr>
              <a:t>Identifying basic architecture for system (hosting, information structure, technologies) as best as you can today</a:t>
            </a:r>
            <a:endParaRPr sz="1200">
              <a:solidFill>
                <a:srgbClr val="273540"/>
              </a:solidFill>
              <a:highlight>
                <a:srgbClr val="FFFFFF"/>
              </a:highlight>
              <a:latin typeface="Open Sans"/>
              <a:ea typeface="Open Sans"/>
              <a:cs typeface="Open Sans"/>
              <a:sym typeface="Open Sans"/>
            </a:endParaRPr>
          </a:p>
          <a:p>
            <a:pPr indent="-304800" lvl="0" marL="457200" rtl="0" algn="l">
              <a:spcBef>
                <a:spcPts val="500"/>
              </a:spcBef>
              <a:spcAft>
                <a:spcPts val="0"/>
              </a:spcAft>
              <a:buClr>
                <a:srgbClr val="273540"/>
              </a:buClr>
              <a:buSzPts val="1200"/>
              <a:buFont typeface="Open Sans"/>
              <a:buChar char="●"/>
            </a:pPr>
            <a:r>
              <a:rPr lang="en" sz="1200">
                <a:solidFill>
                  <a:srgbClr val="273540"/>
                </a:solidFill>
                <a:highlight>
                  <a:srgbClr val="FFFFFF"/>
                </a:highlight>
                <a:latin typeface="Open Sans"/>
                <a:ea typeface="Open Sans"/>
                <a:cs typeface="Open Sans"/>
                <a:sym typeface="Open Sans"/>
              </a:rPr>
              <a:t>Technologies: </a:t>
            </a:r>
            <a:endParaRPr sz="1200">
              <a:solidFill>
                <a:srgbClr val="273540"/>
              </a:solidFill>
              <a:highlight>
                <a:srgbClr val="FFFFFF"/>
              </a:highlight>
              <a:latin typeface="Open Sans"/>
              <a:ea typeface="Open Sans"/>
              <a:cs typeface="Open Sans"/>
              <a:sym typeface="Open Sans"/>
            </a:endParaRPr>
          </a:p>
          <a:p>
            <a:pPr indent="-304800" lvl="1" marL="914400" rtl="0" algn="l">
              <a:spcBef>
                <a:spcPts val="0"/>
              </a:spcBef>
              <a:spcAft>
                <a:spcPts val="0"/>
              </a:spcAft>
              <a:buClr>
                <a:srgbClr val="273540"/>
              </a:buClr>
              <a:buSzPts val="1200"/>
              <a:buFont typeface="Open Sans"/>
              <a:buChar char="○"/>
            </a:pPr>
            <a:r>
              <a:rPr lang="en" sz="1200">
                <a:solidFill>
                  <a:srgbClr val="273540"/>
                </a:solidFill>
                <a:highlight>
                  <a:srgbClr val="FFFFFF"/>
                </a:highlight>
                <a:latin typeface="Open Sans"/>
                <a:ea typeface="Open Sans"/>
                <a:cs typeface="Open Sans"/>
                <a:sym typeface="Open Sans"/>
              </a:rPr>
              <a:t>For web scraping: selenium and BeautifulSoup Python libraries</a:t>
            </a:r>
            <a:endParaRPr sz="1200">
              <a:solidFill>
                <a:srgbClr val="273540"/>
              </a:solidFill>
              <a:highlight>
                <a:srgbClr val="FFFFFF"/>
              </a:highlight>
              <a:latin typeface="Open Sans"/>
              <a:ea typeface="Open Sans"/>
              <a:cs typeface="Open Sans"/>
              <a:sym typeface="Open Sans"/>
            </a:endParaRPr>
          </a:p>
          <a:p>
            <a:pPr indent="-304800" lvl="1" marL="914400" rtl="0" algn="l">
              <a:spcBef>
                <a:spcPts val="0"/>
              </a:spcBef>
              <a:spcAft>
                <a:spcPts val="0"/>
              </a:spcAft>
              <a:buClr>
                <a:srgbClr val="273540"/>
              </a:buClr>
              <a:buSzPts val="1200"/>
              <a:buFont typeface="Open Sans"/>
              <a:buChar char="○"/>
            </a:pPr>
            <a:r>
              <a:rPr lang="en" sz="1200">
                <a:solidFill>
                  <a:srgbClr val="273540"/>
                </a:solidFill>
                <a:highlight>
                  <a:srgbClr val="FFFFFF"/>
                </a:highlight>
                <a:latin typeface="Open Sans"/>
                <a:ea typeface="Open Sans"/>
                <a:cs typeface="Open Sans"/>
                <a:sym typeface="Open Sans"/>
              </a:rPr>
              <a:t>For text processing &amp; compiling metadata values into JSON structure: JSON and RegEx python libraries</a:t>
            </a:r>
            <a:endParaRPr sz="1200">
              <a:solidFill>
                <a:srgbClr val="273540"/>
              </a:solidFill>
              <a:highlight>
                <a:srgbClr val="FFFFFF"/>
              </a:highlight>
              <a:latin typeface="Open Sans"/>
              <a:ea typeface="Open Sans"/>
              <a:cs typeface="Open Sans"/>
              <a:sym typeface="Open Sans"/>
            </a:endParaRPr>
          </a:p>
          <a:p>
            <a:pPr indent="-304800" lvl="1" marL="914400" rtl="0" algn="l">
              <a:spcBef>
                <a:spcPts val="0"/>
              </a:spcBef>
              <a:spcAft>
                <a:spcPts val="0"/>
              </a:spcAft>
              <a:buClr>
                <a:srgbClr val="273540"/>
              </a:buClr>
              <a:buSzPts val="1200"/>
              <a:buFont typeface="Open Sans"/>
              <a:buChar char="○"/>
            </a:pPr>
            <a:r>
              <a:rPr lang="en" sz="1200">
                <a:solidFill>
                  <a:srgbClr val="273540"/>
                </a:solidFill>
                <a:highlight>
                  <a:srgbClr val="FFFFFF"/>
                </a:highlight>
                <a:latin typeface="Open Sans"/>
                <a:ea typeface="Open Sans"/>
                <a:cs typeface="Open Sans"/>
                <a:sym typeface="Open Sans"/>
              </a:rPr>
              <a:t>For data cleaning &amp; visualization: pandas &amp; plotly.express Python libraries</a:t>
            </a:r>
            <a:endParaRPr sz="1200">
              <a:solidFill>
                <a:srgbClr val="273540"/>
              </a:solidFill>
              <a:highlight>
                <a:srgbClr val="FFFFFF"/>
              </a:highlight>
              <a:latin typeface="Open Sans"/>
              <a:ea typeface="Open Sans"/>
              <a:cs typeface="Open Sans"/>
              <a:sym typeface="Open Sans"/>
            </a:endParaRPr>
          </a:p>
          <a:p>
            <a:pPr indent="-304800" lvl="0" marL="457200" rtl="0" algn="l">
              <a:spcBef>
                <a:spcPts val="0"/>
              </a:spcBef>
              <a:spcAft>
                <a:spcPts val="0"/>
              </a:spcAft>
              <a:buClr>
                <a:srgbClr val="273540"/>
              </a:buClr>
              <a:buSzPts val="1200"/>
              <a:buFont typeface="Open Sans"/>
              <a:buChar char="●"/>
            </a:pPr>
            <a:r>
              <a:rPr lang="en" sz="1200">
                <a:solidFill>
                  <a:srgbClr val="273540"/>
                </a:solidFill>
                <a:highlight>
                  <a:srgbClr val="FFFFFF"/>
                </a:highlight>
                <a:latin typeface="Open Sans"/>
                <a:ea typeface="Open Sans"/>
                <a:cs typeface="Open Sans"/>
                <a:sym typeface="Open Sans"/>
              </a:rPr>
              <a:t>Hosting: </a:t>
            </a:r>
            <a:endParaRPr sz="1200">
              <a:solidFill>
                <a:srgbClr val="273540"/>
              </a:solidFill>
              <a:highlight>
                <a:srgbClr val="FFFFFF"/>
              </a:highlight>
              <a:latin typeface="Open Sans"/>
              <a:ea typeface="Open Sans"/>
              <a:cs typeface="Open Sans"/>
              <a:sym typeface="Open Sans"/>
            </a:endParaRPr>
          </a:p>
          <a:p>
            <a:pPr indent="-304800" lvl="1" marL="914400" rtl="0" algn="l">
              <a:spcBef>
                <a:spcPts val="0"/>
              </a:spcBef>
              <a:spcAft>
                <a:spcPts val="0"/>
              </a:spcAft>
              <a:buClr>
                <a:srgbClr val="273540"/>
              </a:buClr>
              <a:buSzPts val="1200"/>
              <a:buFont typeface="Open Sans"/>
              <a:buChar char="○"/>
            </a:pPr>
            <a:r>
              <a:rPr lang="en" sz="1200">
                <a:solidFill>
                  <a:srgbClr val="273540"/>
                </a:solidFill>
                <a:highlight>
                  <a:srgbClr val="FFFFFF"/>
                </a:highlight>
                <a:latin typeface="Open Sans"/>
                <a:ea typeface="Open Sans"/>
                <a:cs typeface="Open Sans"/>
                <a:sym typeface="Open Sans"/>
              </a:rPr>
              <a:t>Public Github repository; interested users may fork the repository to adapt the code for their own Ao3 meta analysis purposes</a:t>
            </a:r>
            <a:endParaRPr sz="1200">
              <a:solidFill>
                <a:srgbClr val="273540"/>
              </a:solidFill>
              <a:highlight>
                <a:srgbClr val="FFFFFF"/>
              </a:highlight>
              <a:latin typeface="Open Sans"/>
              <a:ea typeface="Open Sans"/>
              <a:cs typeface="Open Sans"/>
              <a:sym typeface="Open Sans"/>
            </a:endParaRPr>
          </a:p>
          <a:p>
            <a:pPr indent="-304800" lvl="1" marL="914400" rtl="0" algn="l">
              <a:spcBef>
                <a:spcPts val="0"/>
              </a:spcBef>
              <a:spcAft>
                <a:spcPts val="0"/>
              </a:spcAft>
              <a:buClr>
                <a:srgbClr val="273540"/>
              </a:buClr>
              <a:buSzPts val="1200"/>
              <a:buFont typeface="Open Sans"/>
              <a:buChar char="○"/>
            </a:pPr>
            <a:r>
              <a:rPr lang="en" sz="1200">
                <a:solidFill>
                  <a:srgbClr val="273540"/>
                </a:solidFill>
                <a:highlight>
                  <a:srgbClr val="FFFFFF"/>
                </a:highlight>
                <a:latin typeface="Open Sans"/>
                <a:ea typeface="Open Sans"/>
                <a:cs typeface="Open Sans"/>
                <a:sym typeface="Open Sans"/>
              </a:rPr>
              <a:t>Interactive sample visualizations are saved as .html files for immediate interactive viewing</a:t>
            </a:r>
            <a:endParaRPr sz="1200">
              <a:solidFill>
                <a:srgbClr val="273540"/>
              </a:solidFill>
              <a:highlight>
                <a:srgbClr val="FFFFFF"/>
              </a:highlight>
              <a:latin typeface="Open Sans"/>
              <a:ea typeface="Open Sans"/>
              <a:cs typeface="Open Sans"/>
              <a:sym typeface="Open Sans"/>
            </a:endParaRPr>
          </a:p>
          <a:p>
            <a:pPr indent="-304800" lvl="0" marL="457200" rtl="0" algn="l">
              <a:spcBef>
                <a:spcPts val="0"/>
              </a:spcBef>
              <a:spcAft>
                <a:spcPts val="0"/>
              </a:spcAft>
              <a:buClr>
                <a:srgbClr val="273540"/>
              </a:buClr>
              <a:buSzPts val="1200"/>
              <a:buFont typeface="Open Sans"/>
              <a:buChar char="●"/>
            </a:pPr>
            <a:r>
              <a:rPr lang="en" sz="1200">
                <a:solidFill>
                  <a:srgbClr val="273540"/>
                </a:solidFill>
                <a:highlight>
                  <a:srgbClr val="FFFFFF"/>
                </a:highlight>
                <a:latin typeface="Open Sans"/>
                <a:ea typeface="Open Sans"/>
                <a:cs typeface="Open Sans"/>
                <a:sym typeface="Open Sans"/>
              </a:rPr>
              <a:t>Documentation:</a:t>
            </a:r>
            <a:endParaRPr sz="1200">
              <a:solidFill>
                <a:srgbClr val="273540"/>
              </a:solidFill>
              <a:highlight>
                <a:srgbClr val="FFFFFF"/>
              </a:highlight>
              <a:latin typeface="Open Sans"/>
              <a:ea typeface="Open Sans"/>
              <a:cs typeface="Open Sans"/>
              <a:sym typeface="Open Sans"/>
            </a:endParaRPr>
          </a:p>
          <a:p>
            <a:pPr indent="-304800" lvl="1" marL="914400" rtl="0" algn="l">
              <a:spcBef>
                <a:spcPts val="0"/>
              </a:spcBef>
              <a:spcAft>
                <a:spcPts val="0"/>
              </a:spcAft>
              <a:buClr>
                <a:srgbClr val="273540"/>
              </a:buClr>
              <a:buSzPts val="1200"/>
              <a:buFont typeface="Open Sans"/>
              <a:buChar char="○"/>
            </a:pPr>
            <a:r>
              <a:rPr lang="en" sz="1200">
                <a:solidFill>
                  <a:srgbClr val="273540"/>
                </a:solidFill>
                <a:highlight>
                  <a:srgbClr val="FFFFFF"/>
                </a:highlight>
                <a:latin typeface="Open Sans"/>
                <a:ea typeface="Open Sans"/>
                <a:cs typeface="Open Sans"/>
                <a:sym typeface="Open Sans"/>
              </a:rPr>
              <a:t>Github ReadMe describes project scope &amp; purpose, contents of Jupyter notebooks &amp; Python scripts, and process used for creating sample visualizations </a:t>
            </a:r>
            <a:endParaRPr sz="1200">
              <a:solidFill>
                <a:srgbClr val="273540"/>
              </a:solidFill>
              <a:highlight>
                <a:srgbClr val="FFFFFF"/>
              </a:highlight>
              <a:latin typeface="Open Sans"/>
              <a:ea typeface="Open Sans"/>
              <a:cs typeface="Open Sans"/>
              <a:sym typeface="Open Sans"/>
            </a:endParaRPr>
          </a:p>
          <a:p>
            <a:pPr indent="-304800" lvl="1" marL="914400" rtl="0" algn="l">
              <a:spcBef>
                <a:spcPts val="0"/>
              </a:spcBef>
              <a:spcAft>
                <a:spcPts val="0"/>
              </a:spcAft>
              <a:buClr>
                <a:srgbClr val="273540"/>
              </a:buClr>
              <a:buSzPts val="1200"/>
              <a:buFont typeface="Open Sans"/>
              <a:buChar char="○"/>
            </a:pPr>
            <a:r>
              <a:rPr lang="en" sz="1200">
                <a:solidFill>
                  <a:srgbClr val="273540"/>
                </a:solidFill>
                <a:highlight>
                  <a:srgbClr val="FFFFFF"/>
                </a:highlight>
                <a:latin typeface="Open Sans"/>
                <a:ea typeface="Open Sans"/>
                <a:cs typeface="Open Sans"/>
                <a:sym typeface="Open Sans"/>
              </a:rPr>
              <a:t>Additional artifacts adapted from IMT 542 class assignments (including this one!)</a:t>
            </a:r>
            <a:endParaRPr sz="1200">
              <a:solidFill>
                <a:srgbClr val="273540"/>
              </a:solidFill>
              <a:highlight>
                <a:srgbClr val="FFFFFF"/>
              </a:highlight>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