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Open Sa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8AA421-A19D-4160-A900-9235581FD412}">
  <a:tblStyle styleId="{998AA421-A19D-4160-A900-9235581FD41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34946C0-DBB0-4B04-873C-E7F67DD0CE75}"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OpenSans-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OpenSans-italic.fntdata"/><Relationship Id="rId25" Type="http://schemas.openxmlformats.org/officeDocument/2006/relationships/font" Target="fonts/OpenSans-bold.fntdata"/><Relationship Id="rId27" Type="http://schemas.openxmlformats.org/officeDocument/2006/relationships/font" Target="fonts/Open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archiveofourown.org"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archiveofourown.org" TargetMode="External"/><Relationship Id="rId3" Type="http://schemas.openxmlformats.org/officeDocument/2006/relationships/hyperlink" Target="https://archiveofourown.org/works/51518734/chapters/130205587" TargetMode="External"/><Relationship Id="rId4" Type="http://schemas.openxmlformats.org/officeDocument/2006/relationships/hyperlink" Target="https://archiveofourown.org/works/86018096" TargetMode="External"/><Relationship Id="rId5" Type="http://schemas.openxmlformats.org/officeDocument/2006/relationships/hyperlink" Target="https://archiveofourown.org/works/68067611"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rchiveofourown.org/works/62863873" TargetMode="External"/><Relationship Id="rId3" Type="http://schemas.openxmlformats.org/officeDocument/2006/relationships/hyperlink" Target="https://archiveofourown.org/works/62863873" TargetMode="External"/><Relationship Id="rId4" Type="http://schemas.openxmlformats.org/officeDocument/2006/relationships/hyperlink" Target="https://archiveofourown.org/works/27804601/chapters/68071009"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rchiveofourown.org/"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rchiveofourown.org/tags/Candela%20Obscura%20(Critical%20Role%20Web%20Series)/works"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Hi there, my project is on scraping and converting the structure of fanwork metadata for </a:t>
            </a:r>
            <a:r>
              <a:rPr lang="en" u="sng">
                <a:solidFill>
                  <a:schemeClr val="hlink"/>
                </a:solidFill>
                <a:hlinkClick r:id="rId2"/>
              </a:rPr>
              <a:t>ArchiveofOurOwn.org</a:t>
            </a:r>
            <a:r>
              <a:rPr lang="en"/>
              <a:t> for availability for visualization.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e30ec55d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e30ec55d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1"/>
                </a:solidFill>
                <a:latin typeface="Open Sans"/>
                <a:ea typeface="Open Sans"/>
                <a:cs typeface="Open Sans"/>
                <a:sym typeface="Open Sans"/>
              </a:rPr>
              <a:t>Background: </a:t>
            </a:r>
            <a:endParaRPr b="1">
              <a:solidFill>
                <a:schemeClr val="dk1"/>
              </a:solidFill>
              <a:latin typeface="Open Sans"/>
              <a:ea typeface="Open Sans"/>
              <a:cs typeface="Open Sans"/>
              <a:sym typeface="Open Sans"/>
            </a:endParaRPr>
          </a:p>
          <a:p>
            <a:pPr indent="-298450" lvl="0" marL="457200" rtl="0" algn="l">
              <a:lnSpc>
                <a:spcPct val="115000"/>
              </a:lnSpc>
              <a:spcBef>
                <a:spcPts val="0"/>
              </a:spcBef>
              <a:spcAft>
                <a:spcPts val="0"/>
              </a:spcAft>
              <a:buClr>
                <a:schemeClr val="dk1"/>
              </a:buClr>
              <a:buSzPts val="1100"/>
              <a:buFont typeface="Open Sans"/>
              <a:buChar char="-"/>
            </a:pPr>
            <a:r>
              <a:rPr lang="en" u="sng">
                <a:solidFill>
                  <a:schemeClr val="hlink"/>
                </a:solidFill>
                <a:latin typeface="Open Sans"/>
                <a:ea typeface="Open Sans"/>
                <a:cs typeface="Open Sans"/>
                <a:sym typeface="Open Sans"/>
                <a:hlinkClick r:id="rId2"/>
              </a:rPr>
              <a:t>archiveofourown.org</a:t>
            </a:r>
            <a:r>
              <a:rPr lang="en">
                <a:solidFill>
                  <a:schemeClr val="dk1"/>
                </a:solidFill>
                <a:latin typeface="Open Sans"/>
                <a:ea typeface="Open Sans"/>
                <a:cs typeface="Open Sans"/>
                <a:sym typeface="Open Sans"/>
              </a:rPr>
              <a:t>, or Ao3, is the preeminent digital repository for fanfiction and other transformative fanworks, run by the Organization for Transformative Works.</a:t>
            </a:r>
            <a:endParaRPr>
              <a:solidFill>
                <a:schemeClr val="dk1"/>
              </a:solidFill>
              <a:latin typeface="Open Sans"/>
              <a:ea typeface="Open Sans"/>
              <a:cs typeface="Open Sans"/>
              <a:sym typeface="Open Sans"/>
            </a:endParaRPr>
          </a:p>
          <a:p>
            <a:pPr indent="-298450" lvl="0" marL="457200" rtl="0" algn="l">
              <a:lnSpc>
                <a:spcPct val="115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Broadly, fanworks are works of writing, visual art, music, and critical analysis (among other forms of expression) made by fans using or examining the source material of an existing story. Fan communities come together over a shared love of or interest in a common IP, story, source material, etc. Fanworks are made to celebrate, analyze, critique, iterate upon, and generally be in conversation with that source material and with each other. </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a:solidFill>
                  <a:schemeClr val="dk1"/>
                </a:solidFill>
                <a:latin typeface="Open Sans"/>
                <a:ea typeface="Open Sans"/>
                <a:cs typeface="Open Sans"/>
                <a:sym typeface="Open Sans"/>
              </a:rPr>
              <a:t>Image sources:</a:t>
            </a:r>
            <a:endParaRPr>
              <a:solidFill>
                <a:schemeClr val="dk1"/>
              </a:solidFill>
              <a:latin typeface="Open Sans"/>
              <a:ea typeface="Open Sans"/>
              <a:cs typeface="Open Sans"/>
              <a:sym typeface="Open Sans"/>
            </a:endParaRPr>
          </a:p>
          <a:p>
            <a:pPr indent="-298450" lvl="0" marL="457200" rtl="0" algn="l">
              <a:lnSpc>
                <a:spcPct val="115000"/>
              </a:lnSpc>
              <a:spcBef>
                <a:spcPts val="0"/>
              </a:spcBef>
              <a:spcAft>
                <a:spcPts val="0"/>
              </a:spcAft>
              <a:buClr>
                <a:schemeClr val="dk1"/>
              </a:buClr>
              <a:buSzPts val="1100"/>
              <a:buFont typeface="Open Sans"/>
              <a:buChar char="●"/>
            </a:pPr>
            <a:r>
              <a:rPr lang="en" u="sng">
                <a:solidFill>
                  <a:schemeClr val="hlink"/>
                </a:solidFill>
                <a:latin typeface="Open Sans"/>
                <a:ea typeface="Open Sans"/>
                <a:cs typeface="Open Sans"/>
                <a:sym typeface="Open Sans"/>
                <a:hlinkClick r:id="rId3"/>
              </a:rPr>
              <a:t>https://archiveofourown.org/works/51518734/chapters/130205587</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8450" lvl="0" marL="457200" rtl="0" algn="l">
              <a:lnSpc>
                <a:spcPct val="115000"/>
              </a:lnSpc>
              <a:spcBef>
                <a:spcPts val="0"/>
              </a:spcBef>
              <a:spcAft>
                <a:spcPts val="0"/>
              </a:spcAft>
              <a:buClr>
                <a:schemeClr val="dk1"/>
              </a:buClr>
              <a:buSzPts val="1100"/>
              <a:buFont typeface="Open Sans"/>
              <a:buChar char="●"/>
            </a:pPr>
            <a:r>
              <a:rPr lang="en" u="sng">
                <a:solidFill>
                  <a:schemeClr val="hlink"/>
                </a:solidFill>
                <a:latin typeface="Open Sans"/>
                <a:ea typeface="Open Sans"/>
                <a:cs typeface="Open Sans"/>
                <a:sym typeface="Open Sans"/>
                <a:hlinkClick r:id="rId4"/>
              </a:rPr>
              <a:t>https://archiveofourown.org/works/86018096</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8450" lvl="0" marL="457200" rtl="0" algn="l">
              <a:lnSpc>
                <a:spcPct val="115000"/>
              </a:lnSpc>
              <a:spcBef>
                <a:spcPts val="0"/>
              </a:spcBef>
              <a:spcAft>
                <a:spcPts val="0"/>
              </a:spcAft>
              <a:buClr>
                <a:schemeClr val="dk1"/>
              </a:buClr>
              <a:buSzPts val="1100"/>
              <a:buFont typeface="Open Sans"/>
              <a:buChar char="●"/>
            </a:pPr>
            <a:r>
              <a:rPr lang="en" u="sng">
                <a:solidFill>
                  <a:schemeClr val="hlink"/>
                </a:solidFill>
                <a:latin typeface="Open Sans"/>
                <a:ea typeface="Open Sans"/>
                <a:cs typeface="Open Sans"/>
                <a:sym typeface="Open Sans"/>
                <a:hlinkClick r:id="rId5"/>
              </a:rPr>
              <a:t>https://archiveofourown.org/works/68067611</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e75aa4195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e75aa4195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OTW’s mission statement: “The Organization for Transformative Works (OTW) is a nonprofit organization, established by fans in 2007, to serve the interests of fans by providing access to and preserving the history of fanworks and fan culture in its myriad forms. We believe that fanworks are transformative and that transformative works are legitimate.”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information access is fundamentally baked into Ao3’s mission from its founding as one of the OTW’s main projects.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75aa4195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75aa4195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I’m assuming folks here have generally encountered or heard of fanfiction, fanart, fan videos, etc., but one sometimes overlooked type of transformative work is Fandom Meta Analysis. </a:t>
            </a:r>
            <a:endParaRPr>
              <a:solidFill>
                <a:schemeClr val="dk1"/>
              </a:solidFill>
              <a:latin typeface="Open Sans"/>
              <a:ea typeface="Open Sans"/>
              <a:cs typeface="Open Sans"/>
              <a:sym typeface="Open Sans"/>
            </a:endParaRPr>
          </a:p>
          <a:p>
            <a:pPr indent="-298450" lvl="0" marL="457200" rtl="0" algn="l">
              <a:lnSpc>
                <a:spcPct val="115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Fandom meta analysis essenti</a:t>
            </a:r>
            <a:r>
              <a:rPr lang="en">
                <a:solidFill>
                  <a:schemeClr val="dk1"/>
                </a:solidFill>
                <a:latin typeface="Open Sans"/>
                <a:ea typeface="Open Sans"/>
                <a:cs typeface="Open Sans"/>
                <a:sym typeface="Open Sans"/>
              </a:rPr>
              <a:t>a</a:t>
            </a:r>
            <a:r>
              <a:rPr lang="en">
                <a:solidFill>
                  <a:schemeClr val="dk1"/>
                </a:solidFill>
                <a:latin typeface="Open Sans"/>
                <a:ea typeface="Open Sans"/>
                <a:cs typeface="Open Sans"/>
                <a:sym typeface="Open Sans"/>
              </a:rPr>
              <a:t>lly asks the question, “What do a fan community’s collective fanworks say about their relationship to their fandom’s source material?” For example, if the Game of Thrones fandom is full of a bunch of fluffy alternate universe romances—for a source IP that is notoriously grimdark and violent—that says something interesting about the Game of Thrones fandom, and fans’ relationship to the story of Game of Thrones. (Although with Game of Thrones I think it’s more likely to be full of stories that diverge from canon starting just before Season 8.)</a:t>
            </a:r>
            <a:endParaRPr>
              <a:solidFill>
                <a:schemeClr val="dk1"/>
              </a:solidFill>
              <a:latin typeface="Open Sans"/>
              <a:ea typeface="Open Sans"/>
              <a:cs typeface="Open Sans"/>
              <a:sym typeface="Open Sans"/>
            </a:endParaRPr>
          </a:p>
          <a:p>
            <a:pPr indent="-298450" lvl="0" marL="457200" rtl="0" algn="l">
              <a:lnSpc>
                <a:spcPct val="115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Might involve written or video essays, podcasts, etc.; might involve data analysis and visualization. For example, the image on the right is from Ao3 user toastystats, and their meta analysis report, “[Fandom stats] Biggest fandoms, ships, and characters on AO3: Looking back at 2024” (</a:t>
            </a:r>
            <a:r>
              <a:rPr lang="en" u="sng">
                <a:solidFill>
                  <a:schemeClr val="hlink"/>
                </a:solidFill>
                <a:latin typeface="Open Sans"/>
                <a:ea typeface="Open Sans"/>
                <a:cs typeface="Open Sans"/>
                <a:sym typeface="Open Sans"/>
                <a:hlinkClick r:id="rId2"/>
              </a:rPr>
              <a:t>https://archiveofourown.org/works/62863873</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Right now, as far as I’ve been able to find, there aren’t any official or unofficial tools for exporting and analyzing Ao3 fanwork metadata – which is highly interesting for meta analysis, because Ao3 metadata (as we will see in a second) holds a lot of information about a fanwork’s contents.</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 was able to find some tutorials for meta analysis—for example, toastystats provides tutorials on how to identify the most prolific Ao3 fandoms (ToastyStats tutorials: https://archiveofourown.org/works/27804601/chapters/68071009) —but their methods involve a lot of copy/pasting directly from Ao3; there don’t seem to be a lot of automated tools.</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is an unofficial command line tool for bulk-downloading whole fics from Ao3 called ao3downloader, developed by Github user nianeyna. (Archive of Our Own allows users to download fanworks in ereader formats; ao3downloader is a python script that can download fics in bulk. I have used ao3downloader pretty extensively in the last couple years; however, bulk downloading can be a lengthy process if you’re not actually interested in more than the metadata.</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a:solidFill>
                  <a:schemeClr val="dk1"/>
                </a:solidFill>
                <a:latin typeface="Open Sans"/>
                <a:ea typeface="Open Sans"/>
                <a:cs typeface="Open Sans"/>
                <a:sym typeface="Open Sans"/>
              </a:rPr>
              <a:t>Image source: </a:t>
            </a:r>
            <a:r>
              <a:rPr lang="en" u="sng">
                <a:solidFill>
                  <a:schemeClr val="hlink"/>
                </a:solidFill>
                <a:latin typeface="Open Sans"/>
                <a:ea typeface="Open Sans"/>
                <a:cs typeface="Open Sans"/>
                <a:sym typeface="Open Sans"/>
                <a:hlinkClick r:id="rId3"/>
              </a:rPr>
              <a:t>https://archiveofourown.org/works/62863873</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a:solidFill>
                  <a:schemeClr val="dk1"/>
                </a:solidFill>
                <a:latin typeface="Open Sans"/>
                <a:ea typeface="Open Sans"/>
                <a:cs typeface="Open Sans"/>
                <a:sym typeface="Open Sans"/>
              </a:rPr>
              <a:t>ToastyStats tutorials: </a:t>
            </a:r>
            <a:r>
              <a:rPr lang="en" u="sng">
                <a:solidFill>
                  <a:schemeClr val="hlink"/>
                </a:solidFill>
                <a:latin typeface="Open Sans"/>
                <a:ea typeface="Open Sans"/>
                <a:cs typeface="Open Sans"/>
                <a:sym typeface="Open Sans"/>
                <a:hlinkClick r:id="rId4"/>
              </a:rPr>
              <a:t>https://archiveofourown.org/works/27804601/chapters/68071009</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75aa4195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e75aa4195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Ao3 Metadata Mapper is a tool that scrapes, organizes, analyzes, and visualizes fanwork metadata from </a:t>
            </a:r>
            <a:r>
              <a:rPr lang="en" u="sng">
                <a:solidFill>
                  <a:srgbClr val="1155CC"/>
                </a:solidFill>
                <a:latin typeface="Open Sans"/>
                <a:ea typeface="Open Sans"/>
                <a:cs typeface="Open Sans"/>
                <a:sym typeface="Open Sans"/>
                <a:hlinkClick r:id="rId2">
                  <a:extLst>
                    <a:ext uri="{A12FA001-AC4F-418D-AE19-62706E023703}">
                      <ahyp:hlinkClr val="tx"/>
                    </a:ext>
                  </a:extLst>
                </a:hlinkClick>
              </a:rPr>
              <a:t>Archive of Our Own (Ao3)</a:t>
            </a:r>
            <a:r>
              <a:rPr lang="en">
                <a:solidFill>
                  <a:schemeClr val="dk1"/>
                </a:solidFill>
                <a:latin typeface="Open Sans"/>
                <a:ea typeface="Open Sans"/>
                <a:cs typeface="Open Sans"/>
                <a:sym typeface="Open Sans"/>
              </a:rPr>
              <a:t>. Ao3MM is basically a digital humanities support tool, to help users analyze trends in the collective fanworks of any fandom with a presence on Ao3.</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a:solidFill>
                  <a:schemeClr val="dk1"/>
                </a:solidFill>
                <a:latin typeface="Open Sans"/>
                <a:ea typeface="Open Sans"/>
                <a:cs typeface="Open Sans"/>
                <a:sym typeface="Open Sans"/>
              </a:rPr>
              <a:t>The goal of AO3MM is to support fan community members who love to do meta analysis, i.e. studying and analyzing their community’s fanworks. Ao3MM supports fans without a robust technical background who want to include Ao3 data visualization in their meta analysis.</a:t>
            </a:r>
            <a:endParaRPr>
              <a:solidFill>
                <a:schemeClr val="dk1"/>
              </a:solidFill>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e7688137d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e7688137d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Open Sans"/>
                <a:ea typeface="Open Sans"/>
                <a:cs typeface="Open Sans"/>
                <a:sym typeface="Open Sans"/>
              </a:rPr>
              <a:t>Ao3 Metadata Mapper organizes fanwork metadata in a JSON array. Ao3MM generates the JSON array in the following steps:</a:t>
            </a:r>
            <a:endParaRPr>
              <a:solidFill>
                <a:schemeClr val="dk1"/>
              </a:solidFill>
              <a:latin typeface="Open Sans"/>
              <a:ea typeface="Open Sans"/>
              <a:cs typeface="Open Sans"/>
              <a:sym typeface="Open Sans"/>
            </a:endParaRPr>
          </a:p>
          <a:p>
            <a:pPr indent="-298450" lvl="0" marL="457200" rtl="0" algn="l">
              <a:lnSpc>
                <a:spcPct val="115000"/>
              </a:lnSpc>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First, it takes in the first webpage of an Ao3 fandom (example: </a:t>
            </a:r>
            <a:r>
              <a:rPr lang="en" u="sng">
                <a:solidFill>
                  <a:srgbClr val="1155CC"/>
                </a:solidFill>
                <a:latin typeface="Open Sans"/>
                <a:ea typeface="Open Sans"/>
                <a:cs typeface="Open Sans"/>
                <a:sym typeface="Open Sans"/>
                <a:hlinkClick r:id="rId2">
                  <a:extLst>
                    <a:ext uri="{A12FA001-AC4F-418D-AE19-62706E023703}">
                      <ahyp:hlinkClr val="tx"/>
                    </a:ext>
                  </a:extLst>
                </a:hlinkClick>
              </a:rPr>
              <a:t>https://archiveofourown.org/tags/Candela%20Obscura%20(Critical%20Role%20Web%20Series)/works</a:t>
            </a:r>
            <a:r>
              <a:rPr lang="en">
                <a:solidFill>
                  <a:schemeClr val="dk1"/>
                </a:solidFill>
                <a:latin typeface="Open Sans"/>
                <a:ea typeface="Open Sans"/>
                <a:cs typeface="Open Sans"/>
                <a:sym typeface="Open Sans"/>
              </a:rPr>
              <a:t>) and scrapes the page for a list of “pagination links” (box circled in red below). The combined pagination links contain links to all the fanworks for the given Ao3 fandom, but each pagination link only displays 20 fanworks. I have not yet found a reliable way in Ao3’s UI to display all fanwork links on a single page, so it’s necessary to scrape for a list of individual pagination links.</a:t>
            </a:r>
            <a:endParaRPr>
              <a:solidFill>
                <a:schemeClr val="dk1"/>
              </a:solidFill>
              <a:latin typeface="Open Sans"/>
              <a:ea typeface="Open Sans"/>
              <a:cs typeface="Open Sans"/>
              <a:sym typeface="Open Sans"/>
            </a:endParaRPr>
          </a:p>
          <a:p>
            <a:pPr indent="-298450" lvl="0" marL="457200" rtl="0" algn="l">
              <a:lnSpc>
                <a:spcPct val="115000"/>
              </a:lnSpc>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Second, for each pagination link, Ao3MM scrapes the webpage for a list of links to the 20 fanworks on that page.</a:t>
            </a:r>
            <a:endParaRPr>
              <a:solidFill>
                <a:schemeClr val="dk1"/>
              </a:solidFill>
              <a:latin typeface="Open Sans"/>
              <a:ea typeface="Open Sans"/>
              <a:cs typeface="Open Sans"/>
              <a:sym typeface="Open Sans"/>
            </a:endParaRPr>
          </a:p>
          <a:p>
            <a:pPr indent="-298450" lvl="0" marL="457200" rtl="0" algn="l">
              <a:lnSpc>
                <a:spcPct val="115000"/>
              </a:lnSpc>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Third, for each fanwork link, Ao3MM scrapes the page for the desired metadata, then organizes the metadata into a dictionary. Ao3MM then compiles the individual fanwork dictionaries into a nested dictionary.</a:t>
            </a:r>
            <a:endParaRPr>
              <a:solidFill>
                <a:schemeClr val="dk1"/>
              </a:solidFill>
              <a:latin typeface="Open Sans"/>
              <a:ea typeface="Open Sans"/>
              <a:cs typeface="Open Sans"/>
              <a:sym typeface="Open Sans"/>
            </a:endParaRPr>
          </a:p>
          <a:p>
            <a:pPr indent="-298450" lvl="0" marL="457200" rtl="0" algn="l">
              <a:lnSpc>
                <a:spcPct val="115000"/>
              </a:lnSpc>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Fourth, Ao3MM converts the nested dictionary of all fanwork metadata into a JSON array and saves the JSON file to local storage for safekeeping.</a:t>
            </a:r>
            <a:endParaRPr>
              <a:solidFill>
                <a:schemeClr val="dk1"/>
              </a:solidFill>
              <a:latin typeface="Open Sans"/>
              <a:ea typeface="Open Sans"/>
              <a:cs typeface="Open Sans"/>
              <a:sym typeface="Open Sans"/>
            </a:endParaRPr>
          </a:p>
          <a:p>
            <a:pPr indent="-298450" lvl="0" marL="457200" rtl="0" algn="l">
              <a:lnSpc>
                <a:spcPct val="115000"/>
              </a:lnSpc>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Last, Ao3MM loads the saved JSON file, converts it to a dataframe, and uses plotly.express to generate visualizations of the saved metadata.</a:t>
            </a:r>
            <a:endParaRPr>
              <a:solidFill>
                <a:schemeClr val="dk1"/>
              </a:solidFill>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e30ec55d2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e30ec55d2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Open Sans"/>
                <a:ea typeface="Open Sans"/>
                <a:cs typeface="Open Sans"/>
                <a:sym typeface="Open Sans"/>
              </a:rPr>
              <a:t>These images show how metadata appears directly on Ao3.</a:t>
            </a:r>
            <a:endParaRPr>
              <a:solidFill>
                <a:schemeClr val="dk1"/>
              </a:solidFill>
              <a:latin typeface="Open Sans"/>
              <a:ea typeface="Open Sans"/>
              <a:cs typeface="Open Sans"/>
              <a:sym typeface="Open Sans"/>
            </a:endParaRPr>
          </a:p>
          <a:p>
            <a:pPr indent="-298450" lvl="0" marL="457200" rtl="0" algn="l">
              <a:lnSpc>
                <a:spcPct val="115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The top image shows how metadata appears in Ao3’s search results</a:t>
            </a:r>
            <a:endParaRPr>
              <a:solidFill>
                <a:schemeClr val="dk1"/>
              </a:solidFill>
              <a:latin typeface="Open Sans"/>
              <a:ea typeface="Open Sans"/>
              <a:cs typeface="Open Sans"/>
              <a:sym typeface="Open Sans"/>
            </a:endParaRPr>
          </a:p>
          <a:p>
            <a:pPr indent="-298450" lvl="0" marL="457200" rtl="0" algn="l">
              <a:lnSpc>
                <a:spcPct val="115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The bottom image shows how metadata appears in the header of an individual fanwork page</a:t>
            </a:r>
            <a:endParaRPr>
              <a:solidFill>
                <a:schemeClr val="dk1"/>
              </a:solidFill>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7688137d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7688137d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Open Sans"/>
                <a:ea typeface="Open Sans"/>
                <a:cs typeface="Open Sans"/>
                <a:sym typeface="Open Sans"/>
              </a:rPr>
              <a:t>Here is a small snippet of the BeautifulSoup object for one Ao3 fanwork after scraping the html document. I’ve highlighted in red one of the metadata elements of interest, which is the fanwork rating. (Which is analogous to TV content ratings like PG-13, R, etc.) Obviously this is a bit of a nightmare to parse just </a:t>
            </a:r>
            <a:r>
              <a:rPr lang="en">
                <a:solidFill>
                  <a:schemeClr val="dk1"/>
                </a:solidFill>
                <a:latin typeface="Open Sans"/>
                <a:ea typeface="Open Sans"/>
                <a:cs typeface="Open Sans"/>
                <a:sym typeface="Open Sans"/>
              </a:rPr>
              <a:t>reading</a:t>
            </a:r>
            <a:r>
              <a:rPr lang="en">
                <a:solidFill>
                  <a:schemeClr val="dk1"/>
                </a:solidFill>
                <a:latin typeface="Open Sans"/>
                <a:ea typeface="Open Sans"/>
                <a:cs typeface="Open Sans"/>
                <a:sym typeface="Open Sans"/>
              </a:rPr>
              <a:t> through it with the naked eye.</a:t>
            </a:r>
            <a:endParaRPr>
              <a:solidFill>
                <a:schemeClr val="dk1"/>
              </a:solidFill>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7688137d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e7688137d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Open Sans"/>
                <a:ea typeface="Open Sans"/>
                <a:cs typeface="Open Sans"/>
                <a:sym typeface="Open Sans"/>
              </a:rPr>
              <a:t>One of the methods I first considered for accessing metadata was using the RSS feed for an Ao3 fandom tag. (On Ao3 every fandom has a tag; all works tagged with that fandom tag appear in the search results for the tag, and each fandom tag has an associated RSS feed that readers / fans can use to subscribe to </a:t>
            </a:r>
            <a:r>
              <a:rPr lang="en">
                <a:solidFill>
                  <a:schemeClr val="dk1"/>
                </a:solidFill>
                <a:latin typeface="Open Sans"/>
                <a:ea typeface="Open Sans"/>
                <a:cs typeface="Open Sans"/>
                <a:sym typeface="Open Sans"/>
              </a:rPr>
              <a:t>particular fandoms.) If this had worked, the process of extracting the metadata would have taken fewer steps; however:</a:t>
            </a:r>
            <a:endParaRPr>
              <a:solidFill>
                <a:schemeClr val="dk1"/>
              </a:solidFill>
              <a:latin typeface="Open Sans"/>
              <a:ea typeface="Open Sans"/>
              <a:cs typeface="Open Sans"/>
              <a:sym typeface="Open Sans"/>
            </a:endParaRPr>
          </a:p>
          <a:p>
            <a:pPr indent="-298450" lvl="0" marL="457200" rtl="0" algn="l">
              <a:lnSpc>
                <a:spcPct val="115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The problem with the RSS feed is that it only contains the 25 most recent fanworks, and there is not a reliable way to access works posted earlier.</a:t>
            </a:r>
            <a:endParaRPr>
              <a:solidFill>
                <a:schemeClr val="dk1"/>
              </a:solidFill>
              <a:latin typeface="Open Sans"/>
              <a:ea typeface="Open Sans"/>
              <a:cs typeface="Open Sans"/>
              <a:sym typeface="Open Sans"/>
            </a:endParaRPr>
          </a:p>
          <a:p>
            <a:pPr indent="-298450" lvl="0" marL="457200" rtl="0" algn="l">
              <a:lnSpc>
                <a:spcPct val="115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A few metadata elements that are potentially really intriguing for analysis do not appear in the RSS feed, including kudos, comments, hits, and bookmarks, all of which indicate reader engagement and interest. So if you wanted to analyze the metadata to analyze what kinds of fics are most read or “liked” in a particular fandom, that would not be possible with the RSS feed data.</a:t>
            </a:r>
            <a:endParaRPr>
              <a:solidFill>
                <a:schemeClr val="dk1"/>
              </a:solidFill>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30ec55d2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e30ec55d2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the most part, Ao3 data (fanworks) and metadata do pretty well when assessed with F.A.I.R. criteria. This chart shows some of the most significant strengths and areas of improvement. For the sake of time, I’m not going to go through all of these. I mainly want to highlight Accessibility:</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sz="1400">
                <a:solidFill>
                  <a:schemeClr val="dk1"/>
                </a:solidFill>
              </a:rPr>
              <a:t>Accessibility is the main area where Ao3 doesn’t do as well with FAIR.</a:t>
            </a:r>
            <a:endParaRPr>
              <a:solidFill>
                <a:schemeClr val="dk1"/>
              </a:solidFill>
            </a:endParaRPr>
          </a:p>
          <a:p>
            <a:pPr indent="0" lvl="0" marL="0" rtl="0" algn="l">
              <a:spcBef>
                <a:spcPts val="0"/>
              </a:spcBef>
              <a:spcAft>
                <a:spcPts val="0"/>
              </a:spcAft>
              <a:buNone/>
            </a:pPr>
            <a:r>
              <a:rPr b="1" lang="en">
                <a:solidFill>
                  <a:schemeClr val="dk1"/>
                </a:solidFill>
              </a:rPr>
              <a:t>Strengths:</a:t>
            </a:r>
            <a:endParaRPr b="1">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Metadata is accessible via human intervention and resolves to a digital record (A1)</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Data is available through free access protocol (A2)</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Areas of Improvement: </a:t>
            </a:r>
            <a:r>
              <a:rPr lang="en">
                <a:solidFill>
                  <a:schemeClr val="dk1"/>
                </a:solidFill>
              </a:rPr>
              <a:t>There are no standardized access protocols for metadata (A1). There isn’t an easy way to download Ao3’s metadata tags in bulk. This is partly because Ao3’s metadata tags are organized in a partial folksonomy. There are some metadata categories that have standardized tags. (For example, Archive Warnings, which are essentially content warnings for sensitive or potentially upsetting subject matter, come from a controlled list.) But Ao3 users have access to a “freeform tags” field where they can add whatever tags they want. Ao3 has a team of volunteer “tag wranglers” who manage Ao3’s “Canonical Tags”, which become “canonized” into controlled lists of Fandoms, Characters, Relationships, or Additional Tags. Tag wranglers identify freeform tags that are synonymous or related to Canonical Tags and connect them within Ao3’s taxonomy. So Ao3’s metadata taxonomy is constantly changing. That said, there still isn’t an easy way to identify this.</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No standardized access protocol for metadata (A1)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Metadata not guaranteed to remain available after data is no longer available (A2)</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b="1" lang="en"/>
              <a:t>Findability</a:t>
            </a:r>
            <a:r>
              <a:rPr lang="en"/>
              <a:t> - Otherwise, Ao3’s data and metadata are largely pretty findable. </a:t>
            </a:r>
            <a:r>
              <a:rPr lang="en">
                <a:solidFill>
                  <a:schemeClr val="dk1"/>
                </a:solidFill>
              </a:rPr>
              <a:t>All fanworks and metadata tags have persistent, unique identifiers in the form of Ao3 URIs.</a:t>
            </a:r>
            <a:endParaRPr>
              <a:solidFill>
                <a:schemeClr val="dk1"/>
              </a:solidFill>
            </a:endParaRPr>
          </a:p>
          <a:p>
            <a:pPr indent="0" lvl="0" marL="0" rtl="0" algn="l">
              <a:spcBef>
                <a:spcPts val="0"/>
              </a:spcBef>
              <a:spcAft>
                <a:spcPts val="0"/>
              </a:spcAft>
              <a:buNone/>
            </a:pPr>
            <a:r>
              <a:rPr b="1" lang="en">
                <a:solidFill>
                  <a:schemeClr val="dk1"/>
                </a:solidFill>
              </a:rPr>
              <a:t>Interoperability</a:t>
            </a:r>
            <a:r>
              <a:rPr lang="en">
                <a:solidFill>
                  <a:schemeClr val="dk1"/>
                </a:solidFill>
              </a:rPr>
              <a:t> - Ao3’s data and metadata are pretty interoperable. Because of the tag wranglers, Ao3’s metadata contains references to other metadata, and data (fanworks) use standardized &amp; machine readable knowledge representation. (I.e. fanworks can be read by a human but they can also be downloaded in standard ereader formats directly from Ao3). Although Ao3’s metadata does not have an analogous machine-understandable knowledge representation.</a:t>
            </a:r>
            <a:endParaRPr>
              <a:solidFill>
                <a:schemeClr val="dk1"/>
              </a:solidFill>
            </a:endParaRPr>
          </a:p>
          <a:p>
            <a:pPr indent="0" lvl="0" marL="0" rtl="0" algn="l">
              <a:spcBef>
                <a:spcPts val="0"/>
              </a:spcBef>
              <a:spcAft>
                <a:spcPts val="0"/>
              </a:spcAft>
              <a:buNone/>
            </a:pPr>
            <a:r>
              <a:rPr b="1" lang="en">
                <a:solidFill>
                  <a:schemeClr val="dk1"/>
                </a:solidFill>
              </a:rPr>
              <a:t>Reusability </a:t>
            </a:r>
            <a:r>
              <a:rPr lang="en">
                <a:solidFill>
                  <a:schemeClr val="dk1"/>
                </a:solidFill>
              </a:rPr>
              <a:t>- Metadata and data comply with human and machine-readable community standards.</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In my experience, Ao3 is a website where users are typically searching more than they are browsing. If somebody knows about Ao3 and wants to read Ao3 fanfiction, they probably already know what fandoms they’re interested in, what kinds of content they are interested in (or not interested in), which characters and relationships they want to read about, etc. Ao3 is essentially a library; it excels at making information findable if you know what you’re looking for. If you don’t know what you’re looking for, the site can be more challenging to use.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Again, the most significant barrier to Ao3 fandom meta analysis is metadata accessibility.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e7688137d3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e7688137d3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to recap, using Ao3MM, the metadata structure from an Ao3 page transforms from this (baseline structure as viewed with the naked eye)…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e7688137d3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e7688137d3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this (html after web scraping)...</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7688137d3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e7688137d3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this: the final JSON array after parsing the HTML text and extracting relevant metadata.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if a fan wants to analyze Ao3 fanwork metadata, they </a:t>
            </a:r>
            <a:r>
              <a:rPr lang="en"/>
              <a:t>have</a:t>
            </a:r>
            <a:r>
              <a:rPr lang="en"/>
              <a:t> an easily portable file that they can take, convert to a dataframe, and use as a basis to create visualizations…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e7688137d3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e7688137d3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rgbClr val="273540"/>
                </a:solidFill>
                <a:latin typeface="Open Sans"/>
                <a:ea typeface="Open Sans"/>
                <a:cs typeface="Open Sans"/>
                <a:sym typeface="Open Sans"/>
              </a:rPr>
              <a:t>FOR REFERENCE ONLY</a:t>
            </a:r>
            <a:endParaRPr b="1">
              <a:solidFill>
                <a:srgbClr val="273540"/>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rgbClr val="273540"/>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rgbClr val="273540"/>
                </a:solidFill>
                <a:latin typeface="Open Sans"/>
                <a:ea typeface="Open Sans"/>
                <a:cs typeface="Open Sans"/>
                <a:sym typeface="Open Sans"/>
              </a:rPr>
              <a:t>Ratings: content ratings from Ao3 controlled list - Not Rated, General Audiences, Teen, Mature, Explicit</a:t>
            </a:r>
            <a:endParaRPr>
              <a:solidFill>
                <a:srgbClr val="273540"/>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rgbClr val="273540"/>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rgbClr val="273540"/>
                </a:solidFill>
                <a:latin typeface="Open Sans"/>
                <a:ea typeface="Open Sans"/>
                <a:cs typeface="Open Sans"/>
                <a:sym typeface="Open Sans"/>
              </a:rPr>
              <a:t>Archive Warnings:</a:t>
            </a:r>
            <a:endParaRPr>
              <a:solidFill>
                <a:srgbClr val="273540"/>
              </a:solidFill>
              <a:latin typeface="Open Sans"/>
              <a:ea typeface="Open Sans"/>
              <a:cs typeface="Open Sans"/>
              <a:sym typeface="Open Sans"/>
            </a:endParaRPr>
          </a:p>
          <a:p>
            <a:pPr indent="-298450" lvl="0" marL="457200" rtl="0" algn="l">
              <a:spcBef>
                <a:spcPts val="0"/>
              </a:spcBef>
              <a:spcAft>
                <a:spcPts val="0"/>
              </a:spcAft>
              <a:buClr>
                <a:srgbClr val="273540"/>
              </a:buClr>
              <a:buSzPts val="1100"/>
              <a:buFont typeface="Open Sans"/>
              <a:buChar char="●"/>
            </a:pPr>
            <a:r>
              <a:rPr lang="en">
                <a:solidFill>
                  <a:srgbClr val="273540"/>
                </a:solidFill>
                <a:latin typeface="Open Sans"/>
                <a:ea typeface="Open Sans"/>
                <a:cs typeface="Open Sans"/>
                <a:sym typeface="Open Sans"/>
              </a:rPr>
              <a:t>Graphic Depictions of Violence - </a:t>
            </a:r>
            <a:r>
              <a:rPr i="1" lang="en">
                <a:solidFill>
                  <a:srgbClr val="273540"/>
                </a:solidFill>
                <a:latin typeface="Open Sans"/>
                <a:ea typeface="Open Sans"/>
                <a:cs typeface="Open Sans"/>
                <a:sym typeface="Open Sans"/>
              </a:rPr>
              <a:t>fanwork contains depictions of graphic violence</a:t>
            </a:r>
            <a:endParaRPr i="1">
              <a:solidFill>
                <a:srgbClr val="273540"/>
              </a:solidFill>
              <a:latin typeface="Open Sans"/>
              <a:ea typeface="Open Sans"/>
              <a:cs typeface="Open Sans"/>
              <a:sym typeface="Open Sans"/>
            </a:endParaRPr>
          </a:p>
          <a:p>
            <a:pPr indent="-298450" lvl="0" marL="457200" rtl="0" algn="l">
              <a:spcBef>
                <a:spcPts val="0"/>
              </a:spcBef>
              <a:spcAft>
                <a:spcPts val="0"/>
              </a:spcAft>
              <a:buClr>
                <a:srgbClr val="273540"/>
              </a:buClr>
              <a:buSzPts val="1100"/>
              <a:buFont typeface="Open Sans"/>
              <a:buChar char="●"/>
            </a:pPr>
            <a:r>
              <a:rPr lang="en">
                <a:solidFill>
                  <a:srgbClr val="273540"/>
                </a:solidFill>
                <a:latin typeface="Open Sans"/>
                <a:ea typeface="Open Sans"/>
                <a:cs typeface="Open Sans"/>
                <a:sym typeface="Open Sans"/>
              </a:rPr>
              <a:t>Major Character Death - </a:t>
            </a:r>
            <a:r>
              <a:rPr i="1" lang="en">
                <a:solidFill>
                  <a:srgbClr val="273540"/>
                </a:solidFill>
                <a:latin typeface="Open Sans"/>
                <a:ea typeface="Open Sans"/>
                <a:cs typeface="Open Sans"/>
                <a:sym typeface="Open Sans"/>
              </a:rPr>
              <a:t>fanwork contains depiction(s) of a major character death</a:t>
            </a:r>
            <a:endParaRPr i="1">
              <a:solidFill>
                <a:srgbClr val="273540"/>
              </a:solidFill>
              <a:latin typeface="Open Sans"/>
              <a:ea typeface="Open Sans"/>
              <a:cs typeface="Open Sans"/>
              <a:sym typeface="Open Sans"/>
            </a:endParaRPr>
          </a:p>
          <a:p>
            <a:pPr indent="-298450" lvl="0" marL="457200" rtl="0" algn="l">
              <a:spcBef>
                <a:spcPts val="0"/>
              </a:spcBef>
              <a:spcAft>
                <a:spcPts val="0"/>
              </a:spcAft>
              <a:buClr>
                <a:srgbClr val="273540"/>
              </a:buClr>
              <a:buSzPts val="1100"/>
              <a:buFont typeface="Open Sans"/>
              <a:buChar char="●"/>
            </a:pPr>
            <a:r>
              <a:rPr lang="en">
                <a:solidFill>
                  <a:srgbClr val="273540"/>
                </a:solidFill>
                <a:latin typeface="Open Sans"/>
                <a:ea typeface="Open Sans"/>
                <a:cs typeface="Open Sans"/>
                <a:sym typeface="Open Sans"/>
              </a:rPr>
              <a:t>Rape/Non-Con - </a:t>
            </a:r>
            <a:r>
              <a:rPr i="1" lang="en">
                <a:solidFill>
                  <a:srgbClr val="273540"/>
                </a:solidFill>
                <a:latin typeface="Open Sans"/>
                <a:ea typeface="Open Sans"/>
                <a:cs typeface="Open Sans"/>
                <a:sym typeface="Open Sans"/>
              </a:rPr>
              <a:t>fanwork contains depictions of rape or non-consensual sex</a:t>
            </a:r>
            <a:endParaRPr i="1">
              <a:solidFill>
                <a:srgbClr val="273540"/>
              </a:solidFill>
              <a:latin typeface="Open Sans"/>
              <a:ea typeface="Open Sans"/>
              <a:cs typeface="Open Sans"/>
              <a:sym typeface="Open Sans"/>
            </a:endParaRPr>
          </a:p>
          <a:p>
            <a:pPr indent="-298450" lvl="0" marL="457200" rtl="0" algn="l">
              <a:spcBef>
                <a:spcPts val="0"/>
              </a:spcBef>
              <a:spcAft>
                <a:spcPts val="0"/>
              </a:spcAft>
              <a:buClr>
                <a:srgbClr val="273540"/>
              </a:buClr>
              <a:buSzPts val="1100"/>
              <a:buFont typeface="Open Sans"/>
              <a:buChar char="●"/>
            </a:pPr>
            <a:r>
              <a:rPr lang="en">
                <a:solidFill>
                  <a:srgbClr val="273540"/>
                </a:solidFill>
                <a:latin typeface="Open Sans"/>
                <a:ea typeface="Open Sans"/>
                <a:cs typeface="Open Sans"/>
                <a:sym typeface="Open Sans"/>
              </a:rPr>
              <a:t>Underage Sex - </a:t>
            </a:r>
            <a:r>
              <a:rPr i="1" lang="en">
                <a:solidFill>
                  <a:srgbClr val="273540"/>
                </a:solidFill>
                <a:latin typeface="Open Sans"/>
                <a:ea typeface="Open Sans"/>
                <a:cs typeface="Open Sans"/>
                <a:sym typeface="Open Sans"/>
              </a:rPr>
              <a:t>may refer to underage characters engaging in sexual acts, or may refer to sexual acts between adult and underage characters</a:t>
            </a:r>
            <a:endParaRPr i="1">
              <a:solidFill>
                <a:srgbClr val="273540"/>
              </a:solidFill>
              <a:latin typeface="Open Sans"/>
              <a:ea typeface="Open Sans"/>
              <a:cs typeface="Open Sans"/>
              <a:sym typeface="Open Sans"/>
            </a:endParaRPr>
          </a:p>
          <a:p>
            <a:pPr indent="-298450" lvl="0" marL="457200" rtl="0" algn="l">
              <a:spcBef>
                <a:spcPts val="0"/>
              </a:spcBef>
              <a:spcAft>
                <a:spcPts val="0"/>
              </a:spcAft>
              <a:buClr>
                <a:srgbClr val="273540"/>
              </a:buClr>
              <a:buSzPts val="1100"/>
              <a:buFont typeface="Open Sans"/>
              <a:buChar char="●"/>
            </a:pPr>
            <a:r>
              <a:rPr lang="en">
                <a:solidFill>
                  <a:srgbClr val="273540"/>
                </a:solidFill>
                <a:latin typeface="Open Sans"/>
                <a:ea typeface="Open Sans"/>
                <a:cs typeface="Open Sans"/>
                <a:sym typeface="Open Sans"/>
              </a:rPr>
              <a:t>Creator Chose Not to Use Archive Warnings - </a:t>
            </a:r>
            <a:r>
              <a:rPr i="1" lang="en">
                <a:solidFill>
                  <a:srgbClr val="273540"/>
                </a:solidFill>
                <a:latin typeface="Open Sans"/>
                <a:ea typeface="Open Sans"/>
                <a:cs typeface="Open Sans"/>
                <a:sym typeface="Open Sans"/>
              </a:rPr>
              <a:t>fanwork may contain sensitive content as described above, but the fan author has chosen not to include content warnings</a:t>
            </a:r>
            <a:endParaRPr i="1">
              <a:solidFill>
                <a:srgbClr val="273540"/>
              </a:solidFill>
              <a:latin typeface="Open Sans"/>
              <a:ea typeface="Open Sans"/>
              <a:cs typeface="Open Sans"/>
              <a:sym typeface="Open Sans"/>
            </a:endParaRPr>
          </a:p>
          <a:p>
            <a:pPr indent="-298450" lvl="0" marL="457200" rtl="0" algn="l">
              <a:spcBef>
                <a:spcPts val="0"/>
              </a:spcBef>
              <a:spcAft>
                <a:spcPts val="0"/>
              </a:spcAft>
              <a:buClr>
                <a:srgbClr val="273540"/>
              </a:buClr>
              <a:buSzPts val="1100"/>
              <a:buFont typeface="Open Sans"/>
              <a:buChar char="●"/>
            </a:pPr>
            <a:r>
              <a:rPr lang="en">
                <a:solidFill>
                  <a:srgbClr val="273540"/>
                </a:solidFill>
                <a:latin typeface="Open Sans"/>
                <a:ea typeface="Open Sans"/>
                <a:cs typeface="Open Sans"/>
                <a:sym typeface="Open Sans"/>
              </a:rPr>
              <a:t>No Archive Warnings Apply: </a:t>
            </a:r>
            <a:r>
              <a:rPr i="1" lang="en">
                <a:solidFill>
                  <a:srgbClr val="273540"/>
                </a:solidFill>
                <a:latin typeface="Open Sans"/>
                <a:ea typeface="Open Sans"/>
                <a:cs typeface="Open Sans"/>
                <a:sym typeface="Open Sans"/>
              </a:rPr>
              <a:t>fanwork contains none of the sensitive content described above </a:t>
            </a:r>
            <a:endParaRPr>
              <a:solidFill>
                <a:srgbClr val="273540"/>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rgbClr val="273540"/>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rgbClr val="273540"/>
                </a:solidFill>
                <a:latin typeface="Open Sans"/>
                <a:ea typeface="Open Sans"/>
                <a:cs typeface="Open Sans"/>
                <a:sym typeface="Open Sans"/>
              </a:rPr>
              <a:t>Category - Indicates the gender dynamic of the main relationship depicted in the fanwork, from a controlled list defined by Ao3, including: F/F - main relationship, often but not always romantic, is between at least two female-identified characters; F/M - main relationship, often but not always romantic, is between at least one female-identified and one male-identified character; M/M - main relationship, often but not always romantic is between at least two male-identified characters; Multi - indicates multiple relationships with different gender configurations; Other - may indicate no character relationships, only platonic relationships, relationships involving nonbinary / genderqueer / otherwise gender-diverse characters, etc.; Gen - typically indicates only platonic relationships depicted</a:t>
            </a:r>
            <a:endParaRPr>
              <a:solidFill>
                <a:srgbClr val="273540"/>
              </a:solidFill>
              <a:latin typeface="Open Sans"/>
              <a:ea typeface="Open Sans"/>
              <a:cs typeface="Open Sans"/>
              <a:sym typeface="Open Sans"/>
            </a:endParaRPr>
          </a:p>
          <a:p>
            <a:pPr indent="0" lvl="0" marL="0" rtl="0" algn="l">
              <a:spcBef>
                <a:spcPts val="0"/>
              </a:spcBef>
              <a:spcAft>
                <a:spcPts val="0"/>
              </a:spcAft>
              <a:buNone/>
            </a:pPr>
            <a:r>
              <a:t/>
            </a:r>
            <a:endParaRPr>
              <a:solidFill>
                <a:srgbClr val="273540"/>
              </a:solidFill>
              <a:latin typeface="Open Sans"/>
              <a:ea typeface="Open Sans"/>
              <a:cs typeface="Open Sans"/>
              <a:sym typeface="Open Sans"/>
            </a:endParaRPr>
          </a:p>
          <a:p>
            <a:pPr indent="0" lvl="0" marL="0" rtl="0" algn="ctr">
              <a:spcBef>
                <a:spcPts val="0"/>
              </a:spcBef>
              <a:spcAft>
                <a:spcPts val="0"/>
              </a:spcAft>
              <a:buNone/>
            </a:pPr>
            <a:r>
              <a:rPr b="1" lang="en">
                <a:solidFill>
                  <a:srgbClr val="273540"/>
                </a:solidFill>
                <a:latin typeface="Open Sans"/>
                <a:ea typeface="Open Sans"/>
                <a:cs typeface="Open Sans"/>
                <a:sym typeface="Open Sans"/>
              </a:rPr>
              <a:t>Field</a:t>
            </a:r>
            <a:endParaRPr b="1">
              <a:solidFill>
                <a:srgbClr val="273540"/>
              </a:solidFill>
              <a:latin typeface="Open Sans"/>
              <a:ea typeface="Open Sans"/>
              <a:cs typeface="Open Sans"/>
              <a:sym typeface="Open Sans"/>
            </a:endParaRPr>
          </a:p>
          <a:p>
            <a:pPr indent="0" lvl="0" marL="0" rtl="0" algn="ctr">
              <a:spcBef>
                <a:spcPts val="0"/>
              </a:spcBef>
              <a:spcAft>
                <a:spcPts val="0"/>
              </a:spcAft>
              <a:buNone/>
            </a:pPr>
            <a:r>
              <a:rPr b="1" lang="en">
                <a:solidFill>
                  <a:srgbClr val="273540"/>
                </a:solidFill>
                <a:latin typeface="Open Sans"/>
                <a:ea typeface="Open Sans"/>
                <a:cs typeface="Open Sans"/>
                <a:sym typeface="Open Sans"/>
              </a:rPr>
              <a:t>Definition</a:t>
            </a:r>
            <a:endParaRPr b="1">
              <a:solidFill>
                <a:srgbClr val="273540"/>
              </a:solidFill>
              <a:latin typeface="Open Sans"/>
              <a:ea typeface="Open Sans"/>
              <a:cs typeface="Open Sans"/>
              <a:sym typeface="Open Sans"/>
            </a:endParaRPr>
          </a:p>
          <a:p>
            <a:pPr indent="0" lvl="0" marL="0" rtl="0" algn="l">
              <a:spcBef>
                <a:spcPts val="0"/>
              </a:spcBef>
              <a:spcAft>
                <a:spcPts val="0"/>
              </a:spcAft>
              <a:buNone/>
            </a:pPr>
            <a:r>
              <a:rPr b="1" lang="en">
                <a:solidFill>
                  <a:srgbClr val="273540"/>
                </a:solidFill>
                <a:latin typeface="Open Sans"/>
                <a:ea typeface="Open Sans"/>
                <a:cs typeface="Open Sans"/>
                <a:sym typeface="Open Sans"/>
              </a:rPr>
              <a:t>Rating</a:t>
            </a:r>
            <a:endParaRPr b="1">
              <a:solidFill>
                <a:srgbClr val="273540"/>
              </a:solidFill>
              <a:latin typeface="Open Sans"/>
              <a:ea typeface="Open Sans"/>
              <a:cs typeface="Open Sans"/>
              <a:sym typeface="Open Sans"/>
            </a:endParaRPr>
          </a:p>
          <a:p>
            <a:pPr indent="0" lvl="0" marL="0" rtl="0" algn="l">
              <a:spcBef>
                <a:spcPts val="0"/>
              </a:spcBef>
              <a:spcAft>
                <a:spcPts val="0"/>
              </a:spcAft>
              <a:buNone/>
            </a:pPr>
            <a:r>
              <a:rPr lang="en">
                <a:solidFill>
                  <a:srgbClr val="273540"/>
                </a:solidFill>
                <a:latin typeface="Open Sans"/>
                <a:ea typeface="Open Sans"/>
                <a:cs typeface="Open Sans"/>
                <a:sym typeface="Open Sans"/>
              </a:rPr>
              <a:t>Content ratings (from Ao3 controlled list, e.g. “Not Rated”, “General Audiences,” “Teen”, “Mature,” “Explicit”)</a:t>
            </a:r>
            <a:endParaRPr>
              <a:solidFill>
                <a:srgbClr val="273540"/>
              </a:solidFill>
              <a:latin typeface="Open Sans"/>
              <a:ea typeface="Open Sans"/>
              <a:cs typeface="Open Sans"/>
              <a:sym typeface="Open Sans"/>
            </a:endParaRPr>
          </a:p>
          <a:p>
            <a:pPr indent="0" lvl="0" marL="0" rtl="0" algn="l">
              <a:spcBef>
                <a:spcPts val="0"/>
              </a:spcBef>
              <a:spcAft>
                <a:spcPts val="0"/>
              </a:spcAft>
              <a:buNone/>
            </a:pPr>
            <a:r>
              <a:t/>
            </a:r>
            <a:endParaRPr>
              <a:solidFill>
                <a:srgbClr val="273540"/>
              </a:solidFill>
              <a:latin typeface="Open Sans"/>
              <a:ea typeface="Open Sans"/>
              <a:cs typeface="Open Sans"/>
              <a:sym typeface="Open Sans"/>
            </a:endParaRPr>
          </a:p>
          <a:p>
            <a:pPr indent="0" lvl="0" marL="0" rtl="0" algn="l">
              <a:spcBef>
                <a:spcPts val="0"/>
              </a:spcBef>
              <a:spcAft>
                <a:spcPts val="0"/>
              </a:spcAft>
              <a:buNone/>
            </a:pPr>
            <a:r>
              <a:rPr b="1" lang="en">
                <a:solidFill>
                  <a:srgbClr val="273540"/>
                </a:solidFill>
                <a:latin typeface="Open Sans"/>
                <a:ea typeface="Open Sans"/>
                <a:cs typeface="Open Sans"/>
                <a:sym typeface="Open Sans"/>
              </a:rPr>
              <a:t>Archive Warning</a:t>
            </a:r>
            <a:endParaRPr b="1">
              <a:solidFill>
                <a:srgbClr val="273540"/>
              </a:solidFill>
              <a:latin typeface="Open Sans"/>
              <a:ea typeface="Open Sans"/>
              <a:cs typeface="Open Sans"/>
              <a:sym typeface="Open Sans"/>
            </a:endParaRPr>
          </a:p>
          <a:p>
            <a:pPr indent="0" lvl="0" marL="0" rtl="0" algn="l">
              <a:spcBef>
                <a:spcPts val="0"/>
              </a:spcBef>
              <a:spcAft>
                <a:spcPts val="0"/>
              </a:spcAft>
              <a:buNone/>
            </a:pPr>
            <a:r>
              <a:rPr lang="en">
                <a:solidFill>
                  <a:srgbClr val="273540"/>
                </a:solidFill>
                <a:latin typeface="Open Sans"/>
                <a:ea typeface="Open Sans"/>
                <a:cs typeface="Open Sans"/>
                <a:sym typeface="Open Sans"/>
              </a:rPr>
              <a:t>Sensitive content warnings - from Ao3 controlled list (e.g. “Graphic Depictions of Violence”</a:t>
            </a:r>
            <a:endParaRPr>
              <a:solidFill>
                <a:srgbClr val="273540"/>
              </a:solidFill>
              <a:latin typeface="Open Sans"/>
              <a:ea typeface="Open Sans"/>
              <a:cs typeface="Open Sans"/>
              <a:sym typeface="Open Sans"/>
            </a:endParaRPr>
          </a:p>
          <a:p>
            <a:pPr indent="0" lvl="0" marL="0" rtl="0" algn="l">
              <a:spcBef>
                <a:spcPts val="0"/>
              </a:spcBef>
              <a:spcAft>
                <a:spcPts val="0"/>
              </a:spcAft>
              <a:buNone/>
            </a:pPr>
            <a:r>
              <a:t/>
            </a:r>
            <a:endParaRPr>
              <a:solidFill>
                <a:srgbClr val="273540"/>
              </a:solidFill>
              <a:latin typeface="Open Sans"/>
              <a:ea typeface="Open Sans"/>
              <a:cs typeface="Open Sans"/>
              <a:sym typeface="Open Sans"/>
            </a:endParaRPr>
          </a:p>
          <a:p>
            <a:pPr indent="0" lvl="0" marL="0" rtl="0" algn="l">
              <a:spcBef>
                <a:spcPts val="0"/>
              </a:spcBef>
              <a:spcAft>
                <a:spcPts val="0"/>
              </a:spcAft>
              <a:buNone/>
            </a:pPr>
            <a:r>
              <a:rPr b="1" lang="en">
                <a:solidFill>
                  <a:srgbClr val="273540"/>
                </a:solidFill>
                <a:latin typeface="Open Sans"/>
                <a:ea typeface="Open Sans"/>
                <a:cs typeface="Open Sans"/>
                <a:sym typeface="Open Sans"/>
              </a:rPr>
              <a:t>Category</a:t>
            </a:r>
            <a:endParaRPr b="1">
              <a:solidFill>
                <a:srgbClr val="273540"/>
              </a:solidFill>
              <a:latin typeface="Open Sans"/>
              <a:ea typeface="Open Sans"/>
              <a:cs typeface="Open Sans"/>
              <a:sym typeface="Open Sans"/>
            </a:endParaRPr>
          </a:p>
          <a:p>
            <a:pPr indent="0" lvl="0" marL="0" rtl="0" algn="l">
              <a:spcBef>
                <a:spcPts val="0"/>
              </a:spcBef>
              <a:spcAft>
                <a:spcPts val="0"/>
              </a:spcAft>
              <a:buNone/>
            </a:pPr>
            <a:r>
              <a:rPr lang="en">
                <a:solidFill>
                  <a:srgbClr val="273540"/>
                </a:solidFill>
                <a:latin typeface="Open Sans"/>
                <a:ea typeface="Open Sans"/>
                <a:cs typeface="Open Sans"/>
                <a:sym typeface="Open Sans"/>
              </a:rPr>
              <a:t>Gender dynamic of main relationship depicted in the fanwork, from Ao3 controlled list (e.g. F/F, F/M, M/M, Multi, Other</a:t>
            </a:r>
            <a:endParaRPr>
              <a:solidFill>
                <a:srgbClr val="273540"/>
              </a:solidFill>
              <a:latin typeface="Open Sans"/>
              <a:ea typeface="Open Sans"/>
              <a:cs typeface="Open Sans"/>
              <a:sym typeface="Open Sans"/>
            </a:endParaRPr>
          </a:p>
          <a:p>
            <a:pPr indent="0" lvl="0" marL="0" rtl="0" algn="l">
              <a:spcBef>
                <a:spcPts val="0"/>
              </a:spcBef>
              <a:spcAft>
                <a:spcPts val="0"/>
              </a:spcAft>
              <a:buNone/>
            </a:pPr>
            <a:r>
              <a:t/>
            </a:r>
            <a:endParaRPr>
              <a:solidFill>
                <a:srgbClr val="273540"/>
              </a:solidFill>
              <a:latin typeface="Open Sans"/>
              <a:ea typeface="Open Sans"/>
              <a:cs typeface="Open Sans"/>
              <a:sym typeface="Open Sans"/>
            </a:endParaRPr>
          </a:p>
          <a:p>
            <a:pPr indent="0" lvl="0" marL="0" rtl="0" algn="l">
              <a:spcBef>
                <a:spcPts val="0"/>
              </a:spcBef>
              <a:spcAft>
                <a:spcPts val="0"/>
              </a:spcAft>
              <a:buNone/>
            </a:pPr>
            <a:r>
              <a:rPr b="1" lang="en">
                <a:solidFill>
                  <a:srgbClr val="273540"/>
                </a:solidFill>
                <a:latin typeface="Open Sans"/>
                <a:ea typeface="Open Sans"/>
                <a:cs typeface="Open Sans"/>
                <a:sym typeface="Open Sans"/>
              </a:rPr>
              <a:t>Fandom</a:t>
            </a:r>
            <a:endParaRPr b="1">
              <a:solidFill>
                <a:srgbClr val="273540"/>
              </a:solidFill>
              <a:latin typeface="Open Sans"/>
              <a:ea typeface="Open Sans"/>
              <a:cs typeface="Open Sans"/>
              <a:sym typeface="Open Sans"/>
            </a:endParaRPr>
          </a:p>
          <a:p>
            <a:pPr indent="0" lvl="0" marL="0" rtl="0" algn="l">
              <a:spcBef>
                <a:spcPts val="0"/>
              </a:spcBef>
              <a:spcAft>
                <a:spcPts val="0"/>
              </a:spcAft>
              <a:buNone/>
            </a:pPr>
            <a:r>
              <a:rPr lang="en">
                <a:solidFill>
                  <a:srgbClr val="273540"/>
                </a:solidFill>
                <a:latin typeface="Open Sans"/>
                <a:ea typeface="Open Sans"/>
                <a:cs typeface="Open Sans"/>
                <a:sym typeface="Open Sans"/>
              </a:rPr>
              <a:t>Name of the intellectual property (e.g. book, movie, TV show, web series, video game, etc.) whose characters and/or setting is depicted in the fanwork.</a:t>
            </a:r>
            <a:endParaRPr>
              <a:solidFill>
                <a:srgbClr val="273540"/>
              </a:solidFill>
              <a:latin typeface="Open Sans"/>
              <a:ea typeface="Open Sans"/>
              <a:cs typeface="Open Sans"/>
              <a:sym typeface="Open Sans"/>
            </a:endParaRPr>
          </a:p>
          <a:p>
            <a:pPr indent="0" lvl="0" marL="0" rtl="0" algn="l">
              <a:spcBef>
                <a:spcPts val="0"/>
              </a:spcBef>
              <a:spcAft>
                <a:spcPts val="0"/>
              </a:spcAft>
              <a:buNone/>
            </a:pPr>
            <a:r>
              <a:t/>
            </a:r>
            <a:endParaRPr>
              <a:solidFill>
                <a:srgbClr val="273540"/>
              </a:solidFill>
              <a:latin typeface="Open Sans"/>
              <a:ea typeface="Open Sans"/>
              <a:cs typeface="Open Sans"/>
              <a:sym typeface="Open Sans"/>
            </a:endParaRPr>
          </a:p>
          <a:p>
            <a:pPr indent="0" lvl="0" marL="0" rtl="0" algn="l">
              <a:spcBef>
                <a:spcPts val="0"/>
              </a:spcBef>
              <a:spcAft>
                <a:spcPts val="0"/>
              </a:spcAft>
              <a:buNone/>
            </a:pPr>
            <a:r>
              <a:rPr b="1" lang="en">
                <a:solidFill>
                  <a:srgbClr val="273540"/>
                </a:solidFill>
                <a:latin typeface="Open Sans"/>
                <a:ea typeface="Open Sans"/>
                <a:cs typeface="Open Sans"/>
                <a:sym typeface="Open Sans"/>
              </a:rPr>
              <a:t>Characters</a:t>
            </a:r>
            <a:endParaRPr b="1">
              <a:solidFill>
                <a:srgbClr val="273540"/>
              </a:solidFill>
              <a:latin typeface="Open Sans"/>
              <a:ea typeface="Open Sans"/>
              <a:cs typeface="Open Sans"/>
              <a:sym typeface="Open Sans"/>
            </a:endParaRPr>
          </a:p>
          <a:p>
            <a:pPr indent="0" lvl="0" marL="0" rtl="0" algn="l">
              <a:spcBef>
                <a:spcPts val="0"/>
              </a:spcBef>
              <a:spcAft>
                <a:spcPts val="0"/>
              </a:spcAft>
              <a:buNone/>
            </a:pPr>
            <a:r>
              <a:rPr lang="en">
                <a:solidFill>
                  <a:srgbClr val="273540"/>
                </a:solidFill>
                <a:latin typeface="Open Sans"/>
                <a:ea typeface="Open Sans"/>
                <a:cs typeface="Open Sans"/>
                <a:sym typeface="Open Sans"/>
              </a:rPr>
              <a:t>Name(s) of the primary characters depicted in the fanwork (e.g. “Captain Jean-Luc Picard”).</a:t>
            </a:r>
            <a:endParaRPr>
              <a:solidFill>
                <a:srgbClr val="273540"/>
              </a:solidFill>
              <a:latin typeface="Open Sans"/>
              <a:ea typeface="Open Sans"/>
              <a:cs typeface="Open Sans"/>
              <a:sym typeface="Open Sans"/>
            </a:endParaRPr>
          </a:p>
          <a:p>
            <a:pPr indent="0" lvl="0" marL="0" rtl="0" algn="l">
              <a:spcBef>
                <a:spcPts val="0"/>
              </a:spcBef>
              <a:spcAft>
                <a:spcPts val="0"/>
              </a:spcAft>
              <a:buNone/>
            </a:pPr>
            <a:r>
              <a:t/>
            </a:r>
            <a:endParaRPr>
              <a:solidFill>
                <a:srgbClr val="273540"/>
              </a:solidFill>
              <a:latin typeface="Open Sans"/>
              <a:ea typeface="Open Sans"/>
              <a:cs typeface="Open Sans"/>
              <a:sym typeface="Open Sans"/>
            </a:endParaRPr>
          </a:p>
          <a:p>
            <a:pPr indent="0" lvl="0" marL="0" rtl="0" algn="l">
              <a:spcBef>
                <a:spcPts val="0"/>
              </a:spcBef>
              <a:spcAft>
                <a:spcPts val="0"/>
              </a:spcAft>
              <a:buNone/>
            </a:pPr>
            <a:r>
              <a:rPr b="1" lang="en">
                <a:solidFill>
                  <a:srgbClr val="273540"/>
                </a:solidFill>
                <a:latin typeface="Open Sans"/>
                <a:ea typeface="Open Sans"/>
                <a:cs typeface="Open Sans"/>
                <a:sym typeface="Open Sans"/>
              </a:rPr>
              <a:t>Relationships</a:t>
            </a:r>
            <a:endParaRPr b="1">
              <a:solidFill>
                <a:srgbClr val="273540"/>
              </a:solidFill>
              <a:latin typeface="Open Sans"/>
              <a:ea typeface="Open Sans"/>
              <a:cs typeface="Open Sans"/>
              <a:sym typeface="Open Sans"/>
            </a:endParaRPr>
          </a:p>
          <a:p>
            <a:pPr indent="0" lvl="0" marL="0" rtl="0" algn="l">
              <a:spcBef>
                <a:spcPts val="0"/>
              </a:spcBef>
              <a:spcAft>
                <a:spcPts val="0"/>
              </a:spcAft>
              <a:buNone/>
            </a:pPr>
            <a:r>
              <a:rPr lang="en">
                <a:solidFill>
                  <a:srgbClr val="273540"/>
                </a:solidFill>
                <a:latin typeface="Open Sans"/>
                <a:ea typeface="Open Sans"/>
                <a:cs typeface="Open Sans"/>
                <a:sym typeface="Open Sans"/>
              </a:rPr>
              <a:t>Name(s) of the primary character relationships depicted in the fanwork (e.g. “Captain Jean-Luc Picard/Q”).</a:t>
            </a:r>
            <a:endParaRPr>
              <a:solidFill>
                <a:srgbClr val="273540"/>
              </a:solidFill>
              <a:latin typeface="Open Sans"/>
              <a:ea typeface="Open Sans"/>
              <a:cs typeface="Open Sans"/>
              <a:sym typeface="Open Sans"/>
            </a:endParaRPr>
          </a:p>
          <a:p>
            <a:pPr indent="0" lvl="0" marL="0" rtl="0" algn="l">
              <a:spcBef>
                <a:spcPts val="0"/>
              </a:spcBef>
              <a:spcAft>
                <a:spcPts val="0"/>
              </a:spcAft>
              <a:buNone/>
            </a:pPr>
            <a:r>
              <a:t/>
            </a:r>
            <a:endParaRPr>
              <a:solidFill>
                <a:srgbClr val="273540"/>
              </a:solidFill>
              <a:latin typeface="Open Sans"/>
              <a:ea typeface="Open Sans"/>
              <a:cs typeface="Open Sans"/>
              <a:sym typeface="Open Sans"/>
            </a:endParaRPr>
          </a:p>
          <a:p>
            <a:pPr indent="0" lvl="0" marL="0" rtl="0" algn="l">
              <a:spcBef>
                <a:spcPts val="0"/>
              </a:spcBef>
              <a:spcAft>
                <a:spcPts val="0"/>
              </a:spcAft>
              <a:buNone/>
            </a:pPr>
            <a:r>
              <a:rPr b="1" lang="en">
                <a:solidFill>
                  <a:srgbClr val="273540"/>
                </a:solidFill>
                <a:latin typeface="Open Sans"/>
                <a:ea typeface="Open Sans"/>
                <a:cs typeface="Open Sans"/>
                <a:sym typeface="Open Sans"/>
              </a:rPr>
              <a:t>Additional Tags</a:t>
            </a:r>
            <a:endParaRPr b="1">
              <a:solidFill>
                <a:srgbClr val="273540"/>
              </a:solidFill>
              <a:latin typeface="Open Sans"/>
              <a:ea typeface="Open Sans"/>
              <a:cs typeface="Open Sans"/>
              <a:sym typeface="Open Sans"/>
            </a:endParaRPr>
          </a:p>
          <a:p>
            <a:pPr indent="0" lvl="0" marL="0" rtl="0" algn="l">
              <a:spcBef>
                <a:spcPts val="0"/>
              </a:spcBef>
              <a:spcAft>
                <a:spcPts val="0"/>
              </a:spcAft>
              <a:buNone/>
            </a:pPr>
            <a:r>
              <a:rPr lang="en">
                <a:solidFill>
                  <a:srgbClr val="273540"/>
                </a:solidFill>
                <a:latin typeface="Open Sans"/>
                <a:ea typeface="Open Sans"/>
                <a:cs typeface="Open Sans"/>
                <a:sym typeface="Open Sans"/>
              </a:rPr>
              <a:t>Any additional freeform tags that the author chose to include. Freeform tags may be used for additional content warnings or flags, to indicate background characters not tagged under “Characters”, to specify a particular genre or trope depicted in the work, or even for the author to provide commentary about the work and their experience writing it.</a:t>
            </a:r>
            <a:endParaRPr>
              <a:solidFill>
                <a:srgbClr val="273540"/>
              </a:solidFill>
              <a:latin typeface="Open Sans"/>
              <a:ea typeface="Open Sans"/>
              <a:cs typeface="Open Sans"/>
              <a:sym typeface="Open Sans"/>
            </a:endParaRPr>
          </a:p>
          <a:p>
            <a:pPr indent="0" lvl="0" marL="0" rtl="0" algn="l">
              <a:spcBef>
                <a:spcPts val="0"/>
              </a:spcBef>
              <a:spcAft>
                <a:spcPts val="0"/>
              </a:spcAft>
              <a:buNone/>
            </a:pPr>
            <a:r>
              <a:t/>
            </a:r>
            <a:endParaRPr>
              <a:solidFill>
                <a:srgbClr val="273540"/>
              </a:solidFill>
              <a:latin typeface="Open Sans"/>
              <a:ea typeface="Open Sans"/>
              <a:cs typeface="Open Sans"/>
              <a:sym typeface="Open Sans"/>
            </a:endParaRPr>
          </a:p>
          <a:p>
            <a:pPr indent="0" lvl="0" marL="0" rtl="0" algn="l">
              <a:spcBef>
                <a:spcPts val="0"/>
              </a:spcBef>
              <a:spcAft>
                <a:spcPts val="0"/>
              </a:spcAft>
              <a:buNone/>
            </a:pPr>
            <a:r>
              <a:rPr b="1" lang="en">
                <a:solidFill>
                  <a:srgbClr val="273540"/>
                </a:solidFill>
                <a:latin typeface="Open Sans"/>
                <a:ea typeface="Open Sans"/>
                <a:cs typeface="Open Sans"/>
                <a:sym typeface="Open Sans"/>
              </a:rPr>
              <a:t>Is_Series</a:t>
            </a:r>
            <a:endParaRPr b="1">
              <a:solidFill>
                <a:srgbClr val="273540"/>
              </a:solidFill>
              <a:latin typeface="Open Sans"/>
              <a:ea typeface="Open Sans"/>
              <a:cs typeface="Open Sans"/>
              <a:sym typeface="Open Sans"/>
            </a:endParaRPr>
          </a:p>
          <a:p>
            <a:pPr indent="0" lvl="0" marL="0" rtl="0" algn="l">
              <a:spcBef>
                <a:spcPts val="0"/>
              </a:spcBef>
              <a:spcAft>
                <a:spcPts val="0"/>
              </a:spcAft>
              <a:buNone/>
            </a:pPr>
            <a:r>
              <a:rPr lang="en">
                <a:solidFill>
                  <a:srgbClr val="273540"/>
                </a:solidFill>
                <a:latin typeface="Open Sans"/>
                <a:ea typeface="Open Sans"/>
                <a:cs typeface="Open Sans"/>
                <a:sym typeface="Open Sans"/>
              </a:rPr>
              <a:t>Indicates whether the fanwork is part of a series of works.</a:t>
            </a:r>
            <a:endParaRPr>
              <a:solidFill>
                <a:srgbClr val="273540"/>
              </a:solidFill>
              <a:latin typeface="Open Sans"/>
              <a:ea typeface="Open Sans"/>
              <a:cs typeface="Open Sans"/>
              <a:sym typeface="Open Sans"/>
            </a:endParaRPr>
          </a:p>
          <a:p>
            <a:pPr indent="0" lvl="0" marL="0" rtl="0" algn="l">
              <a:spcBef>
                <a:spcPts val="0"/>
              </a:spcBef>
              <a:spcAft>
                <a:spcPts val="0"/>
              </a:spcAft>
              <a:buNone/>
            </a:pPr>
            <a:r>
              <a:t/>
            </a:r>
            <a:endParaRPr>
              <a:solidFill>
                <a:srgbClr val="273540"/>
              </a:solidFill>
              <a:latin typeface="Open Sans"/>
              <a:ea typeface="Open Sans"/>
              <a:cs typeface="Open Sans"/>
              <a:sym typeface="Open Sans"/>
            </a:endParaRPr>
          </a:p>
          <a:p>
            <a:pPr indent="0" lvl="0" marL="0" rtl="0" algn="l">
              <a:spcBef>
                <a:spcPts val="0"/>
              </a:spcBef>
              <a:spcAft>
                <a:spcPts val="0"/>
              </a:spcAft>
              <a:buNone/>
            </a:pPr>
            <a:r>
              <a:rPr b="1" lang="en">
                <a:solidFill>
                  <a:srgbClr val="273540"/>
                </a:solidFill>
                <a:latin typeface="Open Sans"/>
                <a:ea typeface="Open Sans"/>
                <a:cs typeface="Open Sans"/>
                <a:sym typeface="Open Sans"/>
              </a:rPr>
              <a:t>Date Published</a:t>
            </a:r>
            <a:endParaRPr b="1">
              <a:solidFill>
                <a:srgbClr val="273540"/>
              </a:solidFill>
              <a:latin typeface="Open Sans"/>
              <a:ea typeface="Open Sans"/>
              <a:cs typeface="Open Sans"/>
              <a:sym typeface="Open Sans"/>
            </a:endParaRPr>
          </a:p>
          <a:p>
            <a:pPr indent="0" lvl="0" marL="0" rtl="0" algn="l">
              <a:spcBef>
                <a:spcPts val="0"/>
              </a:spcBef>
              <a:spcAft>
                <a:spcPts val="0"/>
              </a:spcAft>
              <a:buNone/>
            </a:pPr>
            <a:r>
              <a:rPr lang="en">
                <a:solidFill>
                  <a:srgbClr val="273540"/>
                </a:solidFill>
                <a:latin typeface="Open Sans"/>
                <a:ea typeface="Open Sans"/>
                <a:cs typeface="Open Sans"/>
                <a:sym typeface="Open Sans"/>
              </a:rPr>
              <a:t>The date the fanwork was first published.</a:t>
            </a:r>
            <a:endParaRPr>
              <a:solidFill>
                <a:srgbClr val="273540"/>
              </a:solidFill>
              <a:latin typeface="Open Sans"/>
              <a:ea typeface="Open Sans"/>
              <a:cs typeface="Open Sans"/>
              <a:sym typeface="Open Sans"/>
            </a:endParaRPr>
          </a:p>
          <a:p>
            <a:pPr indent="0" lvl="0" marL="0" rtl="0" algn="l">
              <a:spcBef>
                <a:spcPts val="0"/>
              </a:spcBef>
              <a:spcAft>
                <a:spcPts val="0"/>
              </a:spcAft>
              <a:buNone/>
            </a:pPr>
            <a:r>
              <a:t/>
            </a:r>
            <a:endParaRPr>
              <a:solidFill>
                <a:srgbClr val="273540"/>
              </a:solidFill>
              <a:latin typeface="Open Sans"/>
              <a:ea typeface="Open Sans"/>
              <a:cs typeface="Open Sans"/>
              <a:sym typeface="Open Sans"/>
            </a:endParaRPr>
          </a:p>
          <a:p>
            <a:pPr indent="0" lvl="0" marL="0" rtl="0" algn="l">
              <a:spcBef>
                <a:spcPts val="0"/>
              </a:spcBef>
              <a:spcAft>
                <a:spcPts val="0"/>
              </a:spcAft>
              <a:buNone/>
            </a:pPr>
            <a:r>
              <a:rPr b="1" lang="en">
                <a:solidFill>
                  <a:srgbClr val="273540"/>
                </a:solidFill>
                <a:latin typeface="Open Sans"/>
                <a:ea typeface="Open Sans"/>
                <a:cs typeface="Open Sans"/>
                <a:sym typeface="Open Sans"/>
              </a:rPr>
              <a:t>Date Updated</a:t>
            </a:r>
            <a:endParaRPr b="1">
              <a:solidFill>
                <a:srgbClr val="273540"/>
              </a:solidFill>
              <a:latin typeface="Open Sans"/>
              <a:ea typeface="Open Sans"/>
              <a:cs typeface="Open Sans"/>
              <a:sym typeface="Open Sans"/>
            </a:endParaRPr>
          </a:p>
          <a:p>
            <a:pPr indent="0" lvl="0" marL="0" rtl="0" algn="l">
              <a:spcBef>
                <a:spcPts val="0"/>
              </a:spcBef>
              <a:spcAft>
                <a:spcPts val="0"/>
              </a:spcAft>
              <a:buNone/>
            </a:pPr>
            <a:r>
              <a:rPr lang="en">
                <a:solidFill>
                  <a:srgbClr val="273540"/>
                </a:solidFill>
                <a:latin typeface="Open Sans"/>
                <a:ea typeface="Open Sans"/>
                <a:cs typeface="Open Sans"/>
                <a:sym typeface="Open Sans"/>
              </a:rPr>
              <a:t>The last date the fanwork was updated, e.g. if the author added chapters after the original publication date, or if the author made edits to the original fanwork.</a:t>
            </a:r>
            <a:endParaRPr>
              <a:solidFill>
                <a:srgbClr val="273540"/>
              </a:solidFill>
              <a:latin typeface="Open Sans"/>
              <a:ea typeface="Open Sans"/>
              <a:cs typeface="Open Sans"/>
              <a:sym typeface="Open Sans"/>
            </a:endParaRPr>
          </a:p>
          <a:p>
            <a:pPr indent="0" lvl="0" marL="0" rtl="0" algn="l">
              <a:spcBef>
                <a:spcPts val="0"/>
              </a:spcBef>
              <a:spcAft>
                <a:spcPts val="0"/>
              </a:spcAft>
              <a:buNone/>
            </a:pPr>
            <a:r>
              <a:t/>
            </a:r>
            <a:endParaRPr>
              <a:solidFill>
                <a:srgbClr val="273540"/>
              </a:solidFill>
              <a:latin typeface="Open Sans"/>
              <a:ea typeface="Open Sans"/>
              <a:cs typeface="Open Sans"/>
              <a:sym typeface="Open Sans"/>
            </a:endParaRPr>
          </a:p>
          <a:p>
            <a:pPr indent="0" lvl="0" marL="0" rtl="0" algn="l">
              <a:spcBef>
                <a:spcPts val="0"/>
              </a:spcBef>
              <a:spcAft>
                <a:spcPts val="0"/>
              </a:spcAft>
              <a:buNone/>
            </a:pPr>
            <a:r>
              <a:rPr b="1" lang="en">
                <a:solidFill>
                  <a:srgbClr val="273540"/>
                </a:solidFill>
                <a:latin typeface="Open Sans"/>
                <a:ea typeface="Open Sans"/>
                <a:cs typeface="Open Sans"/>
                <a:sym typeface="Open Sans"/>
              </a:rPr>
              <a:t>Word Count</a:t>
            </a:r>
            <a:endParaRPr b="1">
              <a:solidFill>
                <a:srgbClr val="273540"/>
              </a:solidFill>
              <a:latin typeface="Open Sans"/>
              <a:ea typeface="Open Sans"/>
              <a:cs typeface="Open Sans"/>
              <a:sym typeface="Open Sans"/>
            </a:endParaRPr>
          </a:p>
          <a:p>
            <a:pPr indent="0" lvl="0" marL="0" rtl="0" algn="l">
              <a:spcBef>
                <a:spcPts val="0"/>
              </a:spcBef>
              <a:spcAft>
                <a:spcPts val="0"/>
              </a:spcAft>
              <a:buNone/>
            </a:pPr>
            <a:r>
              <a:rPr lang="en">
                <a:solidFill>
                  <a:srgbClr val="273540"/>
                </a:solidFill>
                <a:latin typeface="Open Sans"/>
                <a:ea typeface="Open Sans"/>
                <a:cs typeface="Open Sans"/>
                <a:sym typeface="Open Sans"/>
              </a:rPr>
              <a:t>The number of words in the fanwork (typically a prose story).</a:t>
            </a:r>
            <a:endParaRPr>
              <a:solidFill>
                <a:srgbClr val="273540"/>
              </a:solidFill>
              <a:latin typeface="Open Sans"/>
              <a:ea typeface="Open Sans"/>
              <a:cs typeface="Open Sans"/>
              <a:sym typeface="Open Sans"/>
            </a:endParaRPr>
          </a:p>
          <a:p>
            <a:pPr indent="0" lvl="0" marL="0" rtl="0" algn="l">
              <a:spcBef>
                <a:spcPts val="0"/>
              </a:spcBef>
              <a:spcAft>
                <a:spcPts val="0"/>
              </a:spcAft>
              <a:buNone/>
            </a:pPr>
            <a:r>
              <a:t/>
            </a:r>
            <a:endParaRPr>
              <a:solidFill>
                <a:srgbClr val="273540"/>
              </a:solidFill>
              <a:latin typeface="Open Sans"/>
              <a:ea typeface="Open Sans"/>
              <a:cs typeface="Open Sans"/>
              <a:sym typeface="Open Sans"/>
            </a:endParaRPr>
          </a:p>
          <a:p>
            <a:pPr indent="0" lvl="0" marL="0" rtl="0" algn="l">
              <a:spcBef>
                <a:spcPts val="0"/>
              </a:spcBef>
              <a:spcAft>
                <a:spcPts val="0"/>
              </a:spcAft>
              <a:buNone/>
            </a:pPr>
            <a:r>
              <a:rPr b="1" lang="en">
                <a:solidFill>
                  <a:srgbClr val="273540"/>
                </a:solidFill>
                <a:latin typeface="Open Sans"/>
                <a:ea typeface="Open Sans"/>
                <a:cs typeface="Open Sans"/>
                <a:sym typeface="Open Sans"/>
              </a:rPr>
              <a:t>Chapter Count</a:t>
            </a:r>
            <a:endParaRPr b="1">
              <a:solidFill>
                <a:srgbClr val="273540"/>
              </a:solidFill>
              <a:latin typeface="Open Sans"/>
              <a:ea typeface="Open Sans"/>
              <a:cs typeface="Open Sans"/>
              <a:sym typeface="Open Sans"/>
            </a:endParaRPr>
          </a:p>
          <a:p>
            <a:pPr indent="0" lvl="0" marL="0" rtl="0" algn="l">
              <a:spcBef>
                <a:spcPts val="0"/>
              </a:spcBef>
              <a:spcAft>
                <a:spcPts val="0"/>
              </a:spcAft>
              <a:buNone/>
            </a:pPr>
            <a:r>
              <a:rPr lang="en">
                <a:solidFill>
                  <a:srgbClr val="273540"/>
                </a:solidFill>
                <a:latin typeface="Open Sans"/>
                <a:ea typeface="Open Sans"/>
                <a:cs typeface="Open Sans"/>
                <a:sym typeface="Open Sans"/>
              </a:rPr>
              <a:t>The total number of chapters in the work, at least 1, and the total number of planned chapters in the work (e.g. “1/1” - indicates a complete fanwork where only one chapter was planned; “2/?” - indicates a likely incomplete fanwork where the author has not planned a set number of chapters but has posted at least two; “50/50” - indicates a likely complete fanwork where the author has planned and completed 50 chapters.)</a:t>
            </a:r>
            <a:endParaRPr>
              <a:solidFill>
                <a:srgbClr val="273540"/>
              </a:solidFill>
              <a:latin typeface="Open Sans"/>
              <a:ea typeface="Open Sans"/>
              <a:cs typeface="Open Sans"/>
              <a:sym typeface="Open Sans"/>
            </a:endParaRPr>
          </a:p>
          <a:p>
            <a:pPr indent="0" lvl="0" marL="0" rtl="0" algn="l">
              <a:spcBef>
                <a:spcPts val="0"/>
              </a:spcBef>
              <a:spcAft>
                <a:spcPts val="0"/>
              </a:spcAft>
              <a:buNone/>
            </a:pPr>
            <a:r>
              <a:t/>
            </a:r>
            <a:endParaRPr>
              <a:solidFill>
                <a:srgbClr val="273540"/>
              </a:solidFill>
              <a:latin typeface="Open Sans"/>
              <a:ea typeface="Open Sans"/>
              <a:cs typeface="Open Sans"/>
              <a:sym typeface="Open Sans"/>
            </a:endParaRPr>
          </a:p>
          <a:p>
            <a:pPr indent="0" lvl="0" marL="0" rtl="0" algn="l">
              <a:spcBef>
                <a:spcPts val="0"/>
              </a:spcBef>
              <a:spcAft>
                <a:spcPts val="0"/>
              </a:spcAft>
              <a:buNone/>
            </a:pPr>
            <a:r>
              <a:rPr b="1" lang="en">
                <a:solidFill>
                  <a:srgbClr val="273540"/>
                </a:solidFill>
                <a:latin typeface="Open Sans"/>
                <a:ea typeface="Open Sans"/>
                <a:cs typeface="Open Sans"/>
                <a:sym typeface="Open Sans"/>
              </a:rPr>
              <a:t>Comment Count</a:t>
            </a:r>
            <a:endParaRPr b="1">
              <a:solidFill>
                <a:srgbClr val="273540"/>
              </a:solidFill>
              <a:latin typeface="Open Sans"/>
              <a:ea typeface="Open Sans"/>
              <a:cs typeface="Open Sans"/>
              <a:sym typeface="Open Sans"/>
            </a:endParaRPr>
          </a:p>
          <a:p>
            <a:pPr indent="0" lvl="0" marL="0" rtl="0" algn="l">
              <a:spcBef>
                <a:spcPts val="0"/>
              </a:spcBef>
              <a:spcAft>
                <a:spcPts val="0"/>
              </a:spcAft>
              <a:buNone/>
            </a:pPr>
            <a:r>
              <a:rPr lang="en">
                <a:solidFill>
                  <a:srgbClr val="273540"/>
                </a:solidFill>
                <a:latin typeface="Open Sans"/>
                <a:ea typeface="Open Sans"/>
                <a:cs typeface="Open Sans"/>
                <a:sym typeface="Open Sans"/>
              </a:rPr>
              <a:t>The total number of comments left on the work by readers. Indicates reader engagement and interest.</a:t>
            </a:r>
            <a:endParaRPr>
              <a:solidFill>
                <a:srgbClr val="273540"/>
              </a:solidFill>
              <a:latin typeface="Open Sans"/>
              <a:ea typeface="Open Sans"/>
              <a:cs typeface="Open Sans"/>
              <a:sym typeface="Open Sans"/>
            </a:endParaRPr>
          </a:p>
          <a:p>
            <a:pPr indent="0" lvl="0" marL="0" rtl="0" algn="l">
              <a:spcBef>
                <a:spcPts val="0"/>
              </a:spcBef>
              <a:spcAft>
                <a:spcPts val="0"/>
              </a:spcAft>
              <a:buNone/>
            </a:pPr>
            <a:r>
              <a:t/>
            </a:r>
            <a:endParaRPr>
              <a:solidFill>
                <a:srgbClr val="273540"/>
              </a:solidFill>
              <a:latin typeface="Open Sans"/>
              <a:ea typeface="Open Sans"/>
              <a:cs typeface="Open Sans"/>
              <a:sym typeface="Open Sans"/>
            </a:endParaRPr>
          </a:p>
          <a:p>
            <a:pPr indent="0" lvl="0" marL="0" rtl="0" algn="l">
              <a:spcBef>
                <a:spcPts val="0"/>
              </a:spcBef>
              <a:spcAft>
                <a:spcPts val="0"/>
              </a:spcAft>
              <a:buNone/>
            </a:pPr>
            <a:r>
              <a:rPr b="1" lang="en">
                <a:solidFill>
                  <a:srgbClr val="273540"/>
                </a:solidFill>
                <a:latin typeface="Open Sans"/>
                <a:ea typeface="Open Sans"/>
                <a:cs typeface="Open Sans"/>
                <a:sym typeface="Open Sans"/>
              </a:rPr>
              <a:t>Kudos Count</a:t>
            </a:r>
            <a:endParaRPr b="1">
              <a:solidFill>
                <a:srgbClr val="273540"/>
              </a:solidFill>
              <a:latin typeface="Open Sans"/>
              <a:ea typeface="Open Sans"/>
              <a:cs typeface="Open Sans"/>
              <a:sym typeface="Open Sans"/>
            </a:endParaRPr>
          </a:p>
          <a:p>
            <a:pPr indent="0" lvl="0" marL="0" rtl="0" algn="l">
              <a:spcBef>
                <a:spcPts val="0"/>
              </a:spcBef>
              <a:spcAft>
                <a:spcPts val="0"/>
              </a:spcAft>
              <a:buNone/>
            </a:pPr>
            <a:r>
              <a:rPr lang="en">
                <a:solidFill>
                  <a:srgbClr val="273540"/>
                </a:solidFill>
                <a:latin typeface="Open Sans"/>
                <a:ea typeface="Open Sans"/>
                <a:cs typeface="Open Sans"/>
                <a:sym typeface="Open Sans"/>
              </a:rPr>
              <a:t>The total number of kudos left on the work by readers. (Kudos are akin to “likes” - you click a heart-shaped button at the bottom of the fanwork page and the kudos count for the fanwork increases.) Indicates reader approval and interest.</a:t>
            </a:r>
            <a:endParaRPr>
              <a:solidFill>
                <a:srgbClr val="273540"/>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rgbClr val="273540"/>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7688137d3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e7688137d3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terms of assessing and maintaining the quality of the system - I am admittedly still working out some of the kinks in the code; this is an area where I’m a little behind (so please be nice).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7688137d3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e7688137d3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Open Sans"/>
                <a:ea typeface="Open Sans"/>
                <a:cs typeface="Open Sans"/>
                <a:sym typeface="Open Sans"/>
              </a:rPr>
              <a:t>Note: these are the functional tests I’ve been running as I’ve been developing and debugging my code, and these are the tests I would expect another hobbyist fan to run when using Ao3MM to build their own visualizations. If I were to implement this as a product for market / on a larger scale, I would incorporate more automation. However, the expectation here is that individuals will use this code to generate fanwork visualizations on a one-off basis, or perhaps a semi-regular cadence, but Ao3MM is not so much intended for daily use as it is for individual meta analysis projects.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e7688137d3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e7688137d3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hyperlink" Target="https://archiveofourown.org/abou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hyperlink" Target="https://archiveofourown.org/tags/93514555/feed.atom" TargetMode="External"/><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Lucida Sans"/>
                <a:ea typeface="Lucida Sans"/>
                <a:cs typeface="Lucida Sans"/>
                <a:sym typeface="Lucida Sans"/>
              </a:rPr>
              <a:t>     </a:t>
            </a:r>
            <a:r>
              <a:rPr lang="en">
                <a:latin typeface="Lucida Sans"/>
                <a:ea typeface="Lucida Sans"/>
                <a:cs typeface="Lucida Sans"/>
                <a:sym typeface="Lucida Sans"/>
              </a:rPr>
              <a:t>Metadata Mapper</a:t>
            </a:r>
            <a:endParaRPr>
              <a:latin typeface="Lucida Sans"/>
              <a:ea typeface="Lucida Sans"/>
              <a:cs typeface="Lucida Sans"/>
              <a:sym typeface="Lucida Sans"/>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400">
                <a:latin typeface="Lucida Sans"/>
                <a:ea typeface="Lucida Sans"/>
                <a:cs typeface="Lucida Sans"/>
                <a:sym typeface="Lucida Sans"/>
              </a:rPr>
              <a:t>Em Stelter / IMT 542 Final Project / SPR 2026</a:t>
            </a:r>
            <a:endParaRPr sz="2400">
              <a:latin typeface="Lucida Sans"/>
              <a:ea typeface="Lucida Sans"/>
              <a:cs typeface="Lucida Sans"/>
              <a:sym typeface="Lucida Sans"/>
            </a:endParaRPr>
          </a:p>
        </p:txBody>
      </p:sp>
      <p:pic>
        <p:nvPicPr>
          <p:cNvPr id="56" name="Google Shape;56;p13" title="logo_42.png"/>
          <p:cNvPicPr preferRelativeResize="0"/>
          <p:nvPr/>
        </p:nvPicPr>
        <p:blipFill>
          <a:blip r:embed="rId3">
            <a:alphaModFix/>
          </a:blip>
          <a:stretch>
            <a:fillRect/>
          </a:stretch>
        </p:blipFill>
        <p:spPr>
          <a:xfrm>
            <a:off x="930625" y="1832900"/>
            <a:ext cx="1271650" cy="8755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ucida Sans"/>
                <a:ea typeface="Lucida Sans"/>
                <a:cs typeface="Lucida Sans"/>
                <a:sym typeface="Lucida Sans"/>
              </a:rPr>
              <a:t>Info Story: </a:t>
            </a:r>
            <a:r>
              <a:rPr lang="en">
                <a:latin typeface="Lucida Sans"/>
                <a:ea typeface="Lucida Sans"/>
                <a:cs typeface="Lucida Sans"/>
                <a:sym typeface="Lucida Sans"/>
              </a:rPr>
              <a:t>Ao3</a:t>
            </a:r>
            <a:endParaRPr>
              <a:latin typeface="Lucida Sans"/>
              <a:ea typeface="Lucida Sans"/>
              <a:cs typeface="Lucida Sans"/>
              <a:sym typeface="Lucida Sans"/>
            </a:endParaRPr>
          </a:p>
        </p:txBody>
      </p:sp>
      <p:sp>
        <p:nvSpPr>
          <p:cNvPr id="62" name="Google Shape;62;p14"/>
          <p:cNvSpPr txBox="1"/>
          <p:nvPr>
            <p:ph idx="1" type="body"/>
          </p:nvPr>
        </p:nvSpPr>
        <p:spPr>
          <a:xfrm>
            <a:off x="311700" y="1152475"/>
            <a:ext cx="8520600" cy="213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solidFill>
                  <a:srgbClr val="980000"/>
                </a:solidFill>
                <a:latin typeface="Lucida Sans"/>
                <a:ea typeface="Lucida Sans"/>
                <a:cs typeface="Lucida Sans"/>
                <a:sym typeface="Lucida Sans"/>
              </a:rPr>
              <a:t>Archive of Our Own (Ao3)</a:t>
            </a:r>
            <a:r>
              <a:rPr lang="en" sz="1600">
                <a:latin typeface="Lucida Sans"/>
                <a:ea typeface="Lucida Sans"/>
                <a:cs typeface="Lucida Sans"/>
                <a:sym typeface="Lucida Sans"/>
              </a:rPr>
              <a:t> </a:t>
            </a:r>
            <a:r>
              <a:rPr lang="en" sz="1600">
                <a:solidFill>
                  <a:schemeClr val="dk1"/>
                </a:solidFill>
                <a:latin typeface="Lucida Sans"/>
                <a:ea typeface="Lucida Sans"/>
                <a:cs typeface="Lucida Sans"/>
                <a:sym typeface="Lucida Sans"/>
              </a:rPr>
              <a:t>- preeminent digital repository for fanfiction and other transformative fanworks, run by the nonprofit </a:t>
            </a:r>
            <a:r>
              <a:rPr lang="en" sz="1600">
                <a:solidFill>
                  <a:schemeClr val="dk1"/>
                </a:solidFill>
                <a:latin typeface="Lucida Sans"/>
                <a:ea typeface="Lucida Sans"/>
                <a:cs typeface="Lucida Sans"/>
                <a:sym typeface="Lucida Sans"/>
              </a:rPr>
              <a:t>Organization</a:t>
            </a:r>
            <a:r>
              <a:rPr lang="en" sz="1600">
                <a:solidFill>
                  <a:schemeClr val="dk1"/>
                </a:solidFill>
                <a:latin typeface="Lucida Sans"/>
                <a:ea typeface="Lucida Sans"/>
                <a:cs typeface="Lucida Sans"/>
                <a:sym typeface="Lucida Sans"/>
              </a:rPr>
              <a:t> for Transformative Works (OTW)</a:t>
            </a:r>
            <a:endParaRPr sz="1600">
              <a:solidFill>
                <a:schemeClr val="dk1"/>
              </a:solidFill>
              <a:latin typeface="Lucida Sans"/>
              <a:ea typeface="Lucida Sans"/>
              <a:cs typeface="Lucida Sans"/>
              <a:sym typeface="Lucida Sans"/>
            </a:endParaRPr>
          </a:p>
          <a:p>
            <a:pPr indent="0" lvl="0" marL="0" rtl="0" algn="l">
              <a:spcBef>
                <a:spcPts val="1200"/>
              </a:spcBef>
              <a:spcAft>
                <a:spcPts val="1200"/>
              </a:spcAft>
              <a:buNone/>
            </a:pPr>
            <a:r>
              <a:rPr b="1" lang="en" sz="1600">
                <a:solidFill>
                  <a:srgbClr val="980000"/>
                </a:solidFill>
                <a:highlight>
                  <a:srgbClr val="FFFFFF"/>
                </a:highlight>
                <a:latin typeface="Lucida Sans"/>
                <a:ea typeface="Lucida Sans"/>
                <a:cs typeface="Lucida Sans"/>
                <a:sym typeface="Lucida Sans"/>
              </a:rPr>
              <a:t>Fanworks</a:t>
            </a:r>
            <a:r>
              <a:rPr b="1" lang="en" sz="1600">
                <a:solidFill>
                  <a:srgbClr val="2A2A2A"/>
                </a:solidFill>
                <a:highlight>
                  <a:srgbClr val="FFFFFF"/>
                </a:highlight>
                <a:latin typeface="Lucida Sans"/>
                <a:ea typeface="Lucida Sans"/>
                <a:cs typeface="Lucida Sans"/>
                <a:sym typeface="Lucida Sans"/>
              </a:rPr>
              <a:t> </a:t>
            </a:r>
            <a:r>
              <a:rPr lang="en" sz="1600">
                <a:solidFill>
                  <a:schemeClr val="dk1"/>
                </a:solidFill>
                <a:highlight>
                  <a:srgbClr val="FFFFFF"/>
                </a:highlight>
                <a:latin typeface="Lucida Sans"/>
                <a:ea typeface="Lucida Sans"/>
                <a:cs typeface="Lucida Sans"/>
                <a:sym typeface="Lucida Sans"/>
              </a:rPr>
              <a:t>- Works of writing, visual art, music, multimedia, and critical analysis (among other forms of expression) made by fans using the source material of an existing story.</a:t>
            </a:r>
            <a:endParaRPr sz="1600">
              <a:solidFill>
                <a:schemeClr val="dk1"/>
              </a:solidFill>
              <a:latin typeface="Lucida Sans"/>
              <a:ea typeface="Lucida Sans"/>
              <a:cs typeface="Lucida Sans"/>
              <a:sym typeface="Lucida Sans"/>
            </a:endParaRPr>
          </a:p>
        </p:txBody>
      </p:sp>
      <p:pic>
        <p:nvPicPr>
          <p:cNvPr id="63" name="Google Shape;63;p14" title="logo_42.png"/>
          <p:cNvPicPr preferRelativeResize="0"/>
          <p:nvPr/>
        </p:nvPicPr>
        <p:blipFill>
          <a:blip r:embed="rId3">
            <a:alphaModFix/>
          </a:blip>
          <a:stretch>
            <a:fillRect/>
          </a:stretch>
        </p:blipFill>
        <p:spPr>
          <a:xfrm>
            <a:off x="7706700" y="165225"/>
            <a:ext cx="1271650" cy="875550"/>
          </a:xfrm>
          <a:prstGeom prst="rect">
            <a:avLst/>
          </a:prstGeom>
          <a:noFill/>
          <a:ln>
            <a:noFill/>
          </a:ln>
        </p:spPr>
      </p:pic>
      <p:pic>
        <p:nvPicPr>
          <p:cNvPr id="64" name="Google Shape;64;p14"/>
          <p:cNvPicPr preferRelativeResize="0"/>
          <p:nvPr/>
        </p:nvPicPr>
        <p:blipFill>
          <a:blip r:embed="rId4">
            <a:alphaModFix/>
          </a:blip>
          <a:stretch>
            <a:fillRect/>
          </a:stretch>
        </p:blipFill>
        <p:spPr>
          <a:xfrm>
            <a:off x="3176850" y="3334150"/>
            <a:ext cx="2619350" cy="1534100"/>
          </a:xfrm>
          <a:prstGeom prst="rect">
            <a:avLst/>
          </a:prstGeom>
          <a:noFill/>
          <a:ln>
            <a:noFill/>
          </a:ln>
        </p:spPr>
      </p:pic>
      <p:pic>
        <p:nvPicPr>
          <p:cNvPr id="65" name="Google Shape;65;p14"/>
          <p:cNvPicPr preferRelativeResize="0"/>
          <p:nvPr/>
        </p:nvPicPr>
        <p:blipFill>
          <a:blip r:embed="rId5">
            <a:alphaModFix/>
          </a:blip>
          <a:stretch>
            <a:fillRect/>
          </a:stretch>
        </p:blipFill>
        <p:spPr>
          <a:xfrm>
            <a:off x="5959924" y="3148800"/>
            <a:ext cx="2963224" cy="1719449"/>
          </a:xfrm>
          <a:prstGeom prst="rect">
            <a:avLst/>
          </a:prstGeom>
          <a:noFill/>
          <a:ln>
            <a:noFill/>
          </a:ln>
        </p:spPr>
      </p:pic>
      <p:pic>
        <p:nvPicPr>
          <p:cNvPr id="66" name="Google Shape;66;p14"/>
          <p:cNvPicPr preferRelativeResize="0"/>
          <p:nvPr/>
        </p:nvPicPr>
        <p:blipFill rotWithShape="1">
          <a:blip r:embed="rId6">
            <a:alphaModFix/>
          </a:blip>
          <a:srcRect b="9480" l="0" r="0" t="24778"/>
          <a:stretch/>
        </p:blipFill>
        <p:spPr>
          <a:xfrm>
            <a:off x="234350" y="3411513"/>
            <a:ext cx="2778777" cy="13793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idx="1" type="body"/>
          </p:nvPr>
        </p:nvSpPr>
        <p:spPr>
          <a:xfrm>
            <a:off x="446100" y="1208900"/>
            <a:ext cx="7566000" cy="29205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sz="2250">
                <a:latin typeface="Lucida Sans"/>
                <a:ea typeface="Lucida Sans"/>
                <a:cs typeface="Lucida Sans"/>
                <a:sym typeface="Lucida Sans"/>
              </a:rPr>
              <a:t>“</a:t>
            </a:r>
            <a:r>
              <a:rPr lang="en" sz="2250">
                <a:solidFill>
                  <a:srgbClr val="2A2A2A"/>
                </a:solidFill>
                <a:highlight>
                  <a:srgbClr val="FFFFFF"/>
                </a:highlight>
                <a:latin typeface="Lucida Sans"/>
                <a:ea typeface="Lucida Sans"/>
                <a:cs typeface="Lucida Sans"/>
                <a:sym typeface="Lucida Sans"/>
              </a:rPr>
              <a:t>The Organization for Transformative Works (OTW) is a nonprofit organization, established by fans in 2007, to serve the interests of fans by </a:t>
            </a:r>
            <a:r>
              <a:rPr b="1" lang="en" sz="2250">
                <a:solidFill>
                  <a:srgbClr val="2A2A2A"/>
                </a:solidFill>
                <a:highlight>
                  <a:srgbClr val="FFFFFF"/>
                </a:highlight>
                <a:latin typeface="Lucida Sans"/>
                <a:ea typeface="Lucida Sans"/>
                <a:cs typeface="Lucida Sans"/>
                <a:sym typeface="Lucida Sans"/>
              </a:rPr>
              <a:t>providing access to and preserving the history of fanworks and fan culture in its myriad forms</a:t>
            </a:r>
            <a:r>
              <a:rPr lang="en" sz="2250">
                <a:solidFill>
                  <a:srgbClr val="2A2A2A"/>
                </a:solidFill>
                <a:highlight>
                  <a:srgbClr val="FFFFFF"/>
                </a:highlight>
                <a:latin typeface="Lucida Sans"/>
                <a:ea typeface="Lucida Sans"/>
                <a:cs typeface="Lucida Sans"/>
                <a:sym typeface="Lucida Sans"/>
              </a:rPr>
              <a:t>. We believe that fanworks are transformative and that transformative works are legitimate.”</a:t>
            </a:r>
            <a:endParaRPr sz="2300"/>
          </a:p>
        </p:txBody>
      </p:sp>
      <p:pic>
        <p:nvPicPr>
          <p:cNvPr id="72" name="Google Shape;72;p15" title="logo_42.png"/>
          <p:cNvPicPr preferRelativeResize="0"/>
          <p:nvPr/>
        </p:nvPicPr>
        <p:blipFill>
          <a:blip r:embed="rId3">
            <a:alphaModFix/>
          </a:blip>
          <a:stretch>
            <a:fillRect/>
          </a:stretch>
        </p:blipFill>
        <p:spPr>
          <a:xfrm>
            <a:off x="7706700" y="165225"/>
            <a:ext cx="1271650" cy="875550"/>
          </a:xfrm>
          <a:prstGeom prst="rect">
            <a:avLst/>
          </a:prstGeom>
          <a:noFill/>
          <a:ln>
            <a:noFill/>
          </a:ln>
        </p:spPr>
      </p:pic>
      <p:sp>
        <p:nvSpPr>
          <p:cNvPr id="73" name="Google Shape;73;p15"/>
          <p:cNvSpPr txBox="1"/>
          <p:nvPr/>
        </p:nvSpPr>
        <p:spPr>
          <a:xfrm>
            <a:off x="4316750" y="4129400"/>
            <a:ext cx="4524900" cy="763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600">
                <a:solidFill>
                  <a:schemeClr val="dk2"/>
                </a:solidFill>
                <a:latin typeface="Lucida Sans"/>
                <a:ea typeface="Lucida Sans"/>
                <a:cs typeface="Lucida Sans"/>
                <a:sym typeface="Lucida Sans"/>
              </a:rPr>
              <a:t>About the OTW, </a:t>
            </a:r>
            <a:r>
              <a:rPr lang="en" sz="1600" u="sng">
                <a:solidFill>
                  <a:schemeClr val="hlink"/>
                </a:solidFill>
                <a:latin typeface="Lucida Sans"/>
                <a:ea typeface="Lucida Sans"/>
                <a:cs typeface="Lucida Sans"/>
                <a:sym typeface="Lucida Sans"/>
                <a:hlinkClick r:id="rId4"/>
              </a:rPr>
              <a:t>https://archiveofourown.org/about</a:t>
            </a:r>
            <a:r>
              <a:rPr lang="en" sz="1600">
                <a:solidFill>
                  <a:schemeClr val="dk2"/>
                </a:solidFill>
                <a:latin typeface="Lucida Sans"/>
                <a:ea typeface="Lucida Sans"/>
                <a:cs typeface="Lucida Sans"/>
                <a:sym typeface="Lucida Sans"/>
              </a:rPr>
              <a:t> </a:t>
            </a:r>
            <a:endParaRPr sz="1600">
              <a:solidFill>
                <a:schemeClr val="dk2"/>
              </a:solidFill>
              <a:latin typeface="Lucida Sans"/>
              <a:ea typeface="Lucida Sans"/>
              <a:cs typeface="Lucida Sans"/>
              <a:sym typeface="Lucid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ucida Sans"/>
                <a:ea typeface="Lucida Sans"/>
                <a:cs typeface="Lucida Sans"/>
                <a:sym typeface="Lucida Sans"/>
              </a:rPr>
              <a:t>Info Story: Fandom Meta Analysis</a:t>
            </a:r>
            <a:endParaRPr>
              <a:latin typeface="Lucida Sans"/>
              <a:ea typeface="Lucida Sans"/>
              <a:cs typeface="Lucida Sans"/>
              <a:sym typeface="Lucida Sans"/>
            </a:endParaRPr>
          </a:p>
        </p:txBody>
      </p:sp>
      <p:sp>
        <p:nvSpPr>
          <p:cNvPr id="79" name="Google Shape;79;p16"/>
          <p:cNvSpPr txBox="1"/>
          <p:nvPr>
            <p:ph idx="1" type="body"/>
          </p:nvPr>
        </p:nvSpPr>
        <p:spPr>
          <a:xfrm>
            <a:off x="417550" y="1306175"/>
            <a:ext cx="3783300" cy="3484500"/>
          </a:xfrm>
          <a:prstGeom prst="rect">
            <a:avLst/>
          </a:prstGeom>
        </p:spPr>
        <p:txBody>
          <a:bodyPr anchorCtr="0" anchor="t" bIns="91425" lIns="91425" spcFirstLastPara="1" rIns="91425" wrap="square" tIns="91425">
            <a:normAutofit/>
          </a:bodyPr>
          <a:lstStyle/>
          <a:p>
            <a:pPr indent="0" lvl="0" marL="0" rtl="0" algn="ctr">
              <a:lnSpc>
                <a:spcPct val="105000"/>
              </a:lnSpc>
              <a:spcBef>
                <a:spcPts val="0"/>
              </a:spcBef>
              <a:spcAft>
                <a:spcPts val="1200"/>
              </a:spcAft>
              <a:buNone/>
            </a:pPr>
            <a:r>
              <a:rPr lang="en" sz="2650">
                <a:solidFill>
                  <a:srgbClr val="2A2A2A"/>
                </a:solidFill>
                <a:highlight>
                  <a:srgbClr val="FFFFFF"/>
                </a:highlight>
                <a:latin typeface="Lucida Sans"/>
                <a:ea typeface="Lucida Sans"/>
                <a:cs typeface="Lucida Sans"/>
                <a:sym typeface="Lucida Sans"/>
              </a:rPr>
              <a:t>“What do a fan community’s collective works say about their relationship to their fandom’s source material?”</a:t>
            </a:r>
            <a:endParaRPr sz="1400">
              <a:latin typeface="Lucida Sans"/>
              <a:ea typeface="Lucida Sans"/>
              <a:cs typeface="Lucida Sans"/>
              <a:sym typeface="Lucida Sans"/>
            </a:endParaRPr>
          </a:p>
        </p:txBody>
      </p:sp>
      <p:pic>
        <p:nvPicPr>
          <p:cNvPr id="80" name="Google Shape;80;p16" title="logo_42.png"/>
          <p:cNvPicPr preferRelativeResize="0"/>
          <p:nvPr/>
        </p:nvPicPr>
        <p:blipFill>
          <a:blip r:embed="rId3">
            <a:alphaModFix/>
          </a:blip>
          <a:stretch>
            <a:fillRect/>
          </a:stretch>
        </p:blipFill>
        <p:spPr>
          <a:xfrm>
            <a:off x="7706700" y="165225"/>
            <a:ext cx="1271650" cy="875550"/>
          </a:xfrm>
          <a:prstGeom prst="rect">
            <a:avLst/>
          </a:prstGeom>
          <a:noFill/>
          <a:ln>
            <a:noFill/>
          </a:ln>
        </p:spPr>
      </p:pic>
      <p:pic>
        <p:nvPicPr>
          <p:cNvPr id="81" name="Google Shape;81;p16"/>
          <p:cNvPicPr preferRelativeResize="0"/>
          <p:nvPr/>
        </p:nvPicPr>
        <p:blipFill>
          <a:blip r:embed="rId4">
            <a:alphaModFix/>
          </a:blip>
          <a:stretch>
            <a:fillRect/>
          </a:stretch>
        </p:blipFill>
        <p:spPr>
          <a:xfrm>
            <a:off x="4572001" y="1707754"/>
            <a:ext cx="4151300" cy="234662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ucida Sans"/>
                <a:ea typeface="Lucida Sans"/>
                <a:cs typeface="Lucida Sans"/>
                <a:sym typeface="Lucida Sans"/>
              </a:rPr>
              <a:t>Ao3 Metadata Mapper (Ao3MM)</a:t>
            </a:r>
            <a:endParaRPr>
              <a:latin typeface="Lucida Sans"/>
              <a:ea typeface="Lucida Sans"/>
              <a:cs typeface="Lucida Sans"/>
              <a:sym typeface="Lucida Sans"/>
            </a:endParaRPr>
          </a:p>
        </p:txBody>
      </p:sp>
      <p:sp>
        <p:nvSpPr>
          <p:cNvPr id="87" name="Google Shape;87;p17"/>
          <p:cNvSpPr txBox="1"/>
          <p:nvPr>
            <p:ph idx="1" type="body"/>
          </p:nvPr>
        </p:nvSpPr>
        <p:spPr>
          <a:xfrm>
            <a:off x="311700" y="125745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2A2A2A"/>
              </a:buClr>
              <a:buSzPts val="1800"/>
              <a:buFont typeface="Lucida Sans"/>
              <a:buChar char="●"/>
            </a:pPr>
            <a:r>
              <a:rPr b="1" lang="en">
                <a:solidFill>
                  <a:srgbClr val="980000"/>
                </a:solidFill>
                <a:latin typeface="Lucida Sans"/>
                <a:ea typeface="Lucida Sans"/>
                <a:cs typeface="Lucida Sans"/>
                <a:sym typeface="Lucida Sans"/>
              </a:rPr>
              <a:t>What does it do?</a:t>
            </a:r>
            <a:r>
              <a:rPr b="1" lang="en">
                <a:solidFill>
                  <a:srgbClr val="2A2A2A"/>
                </a:solidFill>
                <a:latin typeface="Lucida Sans"/>
                <a:ea typeface="Lucida Sans"/>
                <a:cs typeface="Lucida Sans"/>
                <a:sym typeface="Lucida Sans"/>
              </a:rPr>
              <a:t> </a:t>
            </a:r>
            <a:r>
              <a:rPr lang="en">
                <a:solidFill>
                  <a:srgbClr val="2A2A2A"/>
                </a:solidFill>
                <a:latin typeface="Lucida Sans"/>
                <a:ea typeface="Lucida Sans"/>
                <a:cs typeface="Lucida Sans"/>
                <a:sym typeface="Lucida Sans"/>
              </a:rPr>
              <a:t>- S</a:t>
            </a:r>
            <a:r>
              <a:rPr lang="en">
                <a:solidFill>
                  <a:srgbClr val="2A2A2A"/>
                </a:solidFill>
                <a:latin typeface="Lucida Sans"/>
                <a:ea typeface="Lucida Sans"/>
                <a:cs typeface="Lucida Sans"/>
                <a:sym typeface="Lucida Sans"/>
              </a:rPr>
              <a:t>crapes, organizes, and visualizes Ao3 fanwork metadata</a:t>
            </a:r>
            <a:endParaRPr>
              <a:solidFill>
                <a:srgbClr val="2A2A2A"/>
              </a:solidFill>
              <a:latin typeface="Lucida Sans"/>
              <a:ea typeface="Lucida Sans"/>
              <a:cs typeface="Lucida Sans"/>
              <a:sym typeface="Lucida Sans"/>
            </a:endParaRPr>
          </a:p>
          <a:p>
            <a:pPr indent="-342900" lvl="0" marL="457200" rtl="0" algn="l">
              <a:spcBef>
                <a:spcPts val="0"/>
              </a:spcBef>
              <a:spcAft>
                <a:spcPts val="0"/>
              </a:spcAft>
              <a:buClr>
                <a:srgbClr val="2A2A2A"/>
              </a:buClr>
              <a:buSzPts val="1800"/>
              <a:buFont typeface="Lucida Sans"/>
              <a:buChar char="●"/>
            </a:pPr>
            <a:r>
              <a:rPr b="1" lang="en">
                <a:solidFill>
                  <a:srgbClr val="980000"/>
                </a:solidFill>
                <a:latin typeface="Lucida Sans"/>
                <a:ea typeface="Lucida Sans"/>
                <a:cs typeface="Lucida Sans"/>
                <a:sym typeface="Lucida Sans"/>
              </a:rPr>
              <a:t>Project Goals</a:t>
            </a:r>
            <a:r>
              <a:rPr b="1" lang="en">
                <a:solidFill>
                  <a:srgbClr val="2A2A2A"/>
                </a:solidFill>
                <a:latin typeface="Lucida Sans"/>
                <a:ea typeface="Lucida Sans"/>
                <a:cs typeface="Lucida Sans"/>
                <a:sym typeface="Lucida Sans"/>
              </a:rPr>
              <a:t> - </a:t>
            </a:r>
            <a:r>
              <a:rPr lang="en">
                <a:solidFill>
                  <a:srgbClr val="2A2A2A"/>
                </a:solidFill>
                <a:latin typeface="Lucida Sans"/>
                <a:ea typeface="Lucida Sans"/>
                <a:cs typeface="Lucida Sans"/>
                <a:sym typeface="Lucida Sans"/>
              </a:rPr>
              <a:t>To support fan community meta analysis, and provide a tool for fans without a robust technical background who want to include Ao3 data visualization in their meta analysis</a:t>
            </a:r>
            <a:endParaRPr>
              <a:solidFill>
                <a:srgbClr val="2A2A2A"/>
              </a:solidFill>
              <a:latin typeface="Lucida Sans"/>
              <a:ea typeface="Lucida Sans"/>
              <a:cs typeface="Lucida Sans"/>
              <a:sym typeface="Lucida Sans"/>
            </a:endParaRPr>
          </a:p>
          <a:p>
            <a:pPr indent="0" lvl="0" marL="0" rtl="0" algn="l">
              <a:spcBef>
                <a:spcPts val="1200"/>
              </a:spcBef>
              <a:spcAft>
                <a:spcPts val="1200"/>
              </a:spcAft>
              <a:buNone/>
            </a:pPr>
            <a:r>
              <a:t/>
            </a:r>
            <a:endParaRPr>
              <a:solidFill>
                <a:srgbClr val="2A2A2A"/>
              </a:solidFill>
              <a:latin typeface="Lucida Sans"/>
              <a:ea typeface="Lucida Sans"/>
              <a:cs typeface="Lucida Sans"/>
              <a:sym typeface="Lucida Sans"/>
            </a:endParaRPr>
          </a:p>
        </p:txBody>
      </p:sp>
      <p:pic>
        <p:nvPicPr>
          <p:cNvPr id="88" name="Google Shape;88;p17" title="logo_42.png"/>
          <p:cNvPicPr preferRelativeResize="0"/>
          <p:nvPr/>
        </p:nvPicPr>
        <p:blipFill>
          <a:blip r:embed="rId3">
            <a:alphaModFix/>
          </a:blip>
          <a:stretch>
            <a:fillRect/>
          </a:stretch>
        </p:blipFill>
        <p:spPr>
          <a:xfrm>
            <a:off x="7706700" y="165225"/>
            <a:ext cx="1271650" cy="875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ucida Sans"/>
                <a:ea typeface="Lucida Sans"/>
                <a:cs typeface="Lucida Sans"/>
                <a:sym typeface="Lucida Sans"/>
              </a:rPr>
              <a:t>Ao3MM: Broad Steps</a:t>
            </a:r>
            <a:endParaRPr>
              <a:latin typeface="Lucida Sans"/>
              <a:ea typeface="Lucida Sans"/>
              <a:cs typeface="Lucida Sans"/>
              <a:sym typeface="Lucida Sans"/>
            </a:endParaRPr>
          </a:p>
        </p:txBody>
      </p:sp>
      <p:pic>
        <p:nvPicPr>
          <p:cNvPr id="94" name="Google Shape;94;p18" title="logo_42.png"/>
          <p:cNvPicPr preferRelativeResize="0"/>
          <p:nvPr/>
        </p:nvPicPr>
        <p:blipFill>
          <a:blip r:embed="rId3">
            <a:alphaModFix/>
          </a:blip>
          <a:stretch>
            <a:fillRect/>
          </a:stretch>
        </p:blipFill>
        <p:spPr>
          <a:xfrm>
            <a:off x="7706700" y="165225"/>
            <a:ext cx="1271650" cy="875550"/>
          </a:xfrm>
          <a:prstGeom prst="rect">
            <a:avLst/>
          </a:prstGeom>
          <a:noFill/>
          <a:ln>
            <a:noFill/>
          </a:ln>
        </p:spPr>
      </p:pic>
      <p:sp>
        <p:nvSpPr>
          <p:cNvPr id="95" name="Google Shape;95;p18"/>
          <p:cNvSpPr txBox="1"/>
          <p:nvPr/>
        </p:nvSpPr>
        <p:spPr>
          <a:xfrm>
            <a:off x="311700" y="1280800"/>
            <a:ext cx="7859100" cy="3743700"/>
          </a:xfrm>
          <a:prstGeom prst="rect">
            <a:avLst/>
          </a:prstGeom>
          <a:noFill/>
          <a:ln>
            <a:noFill/>
          </a:ln>
        </p:spPr>
        <p:txBody>
          <a:bodyPr anchorCtr="0" anchor="ctr" bIns="91425" lIns="91425" spcFirstLastPara="1" rIns="91425" wrap="square" tIns="91425">
            <a:noAutofit/>
          </a:bodyPr>
          <a:lstStyle/>
          <a:p>
            <a:pPr indent="-330200" lvl="0" marL="457200" rtl="0" algn="l">
              <a:lnSpc>
                <a:spcPct val="115000"/>
              </a:lnSpc>
              <a:spcBef>
                <a:spcPts val="0"/>
              </a:spcBef>
              <a:spcAft>
                <a:spcPts val="0"/>
              </a:spcAft>
              <a:buSzPts val="1600"/>
              <a:buFont typeface="Open Sans"/>
              <a:buAutoNum type="arabicPeriod"/>
            </a:pPr>
            <a:r>
              <a:rPr b="1" lang="en" sz="1600">
                <a:latin typeface="Open Sans"/>
                <a:ea typeface="Open Sans"/>
                <a:cs typeface="Open Sans"/>
                <a:sym typeface="Open Sans"/>
              </a:rPr>
              <a:t>Scrapes Ao3 fandom webpage</a:t>
            </a:r>
            <a:r>
              <a:rPr lang="en" sz="1600">
                <a:latin typeface="Open Sans"/>
                <a:ea typeface="Open Sans"/>
                <a:cs typeface="Open Sans"/>
                <a:sym typeface="Open Sans"/>
              </a:rPr>
              <a:t> to get pagination links (multiple pages of search results)</a:t>
            </a:r>
            <a:endParaRPr sz="1600">
              <a:latin typeface="Open Sans"/>
              <a:ea typeface="Open Sans"/>
              <a:cs typeface="Open Sans"/>
              <a:sym typeface="Open Sans"/>
            </a:endParaRPr>
          </a:p>
          <a:p>
            <a:pPr indent="-330200" lvl="0" marL="457200" rtl="0" algn="l">
              <a:lnSpc>
                <a:spcPct val="115000"/>
              </a:lnSpc>
              <a:spcBef>
                <a:spcPts val="1000"/>
              </a:spcBef>
              <a:spcAft>
                <a:spcPts val="0"/>
              </a:spcAft>
              <a:buSzPts val="1600"/>
              <a:buFont typeface="Open Sans"/>
              <a:buAutoNum type="arabicPeriod"/>
            </a:pPr>
            <a:r>
              <a:rPr b="1" lang="en" sz="1600">
                <a:latin typeface="Open Sans"/>
                <a:ea typeface="Open Sans"/>
                <a:cs typeface="Open Sans"/>
                <a:sym typeface="Open Sans"/>
              </a:rPr>
              <a:t>Scrapes pagination links</a:t>
            </a:r>
            <a:r>
              <a:rPr lang="en" sz="1600">
                <a:latin typeface="Open Sans"/>
                <a:ea typeface="Open Sans"/>
                <a:cs typeface="Open Sans"/>
                <a:sym typeface="Open Sans"/>
              </a:rPr>
              <a:t> for fanwork links</a:t>
            </a:r>
            <a:endParaRPr sz="1600">
              <a:latin typeface="Open Sans"/>
              <a:ea typeface="Open Sans"/>
              <a:cs typeface="Open Sans"/>
              <a:sym typeface="Open Sans"/>
            </a:endParaRPr>
          </a:p>
          <a:p>
            <a:pPr indent="-330200" lvl="0" marL="457200" rtl="0" algn="l">
              <a:lnSpc>
                <a:spcPct val="115000"/>
              </a:lnSpc>
              <a:spcBef>
                <a:spcPts val="1000"/>
              </a:spcBef>
              <a:spcAft>
                <a:spcPts val="0"/>
              </a:spcAft>
              <a:buSzPts val="1600"/>
              <a:buFont typeface="Open Sans"/>
              <a:buAutoNum type="arabicPeriod"/>
            </a:pPr>
            <a:r>
              <a:rPr b="1" lang="en" sz="1600">
                <a:latin typeface="Open Sans"/>
                <a:ea typeface="Open Sans"/>
                <a:cs typeface="Open Sans"/>
                <a:sym typeface="Open Sans"/>
              </a:rPr>
              <a:t>Scrapes fanwork links</a:t>
            </a:r>
            <a:r>
              <a:rPr lang="en" sz="1600">
                <a:latin typeface="Open Sans"/>
                <a:ea typeface="Open Sans"/>
                <a:cs typeface="Open Sans"/>
                <a:sym typeface="Open Sans"/>
              </a:rPr>
              <a:t> for desired metadata, organizes metadata into dictionaries, compiles individual dictionaries into a nested dictionary</a:t>
            </a:r>
            <a:endParaRPr sz="1600">
              <a:latin typeface="Open Sans"/>
              <a:ea typeface="Open Sans"/>
              <a:cs typeface="Open Sans"/>
              <a:sym typeface="Open Sans"/>
            </a:endParaRPr>
          </a:p>
          <a:p>
            <a:pPr indent="-330200" lvl="0" marL="457200" rtl="0" algn="l">
              <a:lnSpc>
                <a:spcPct val="115000"/>
              </a:lnSpc>
              <a:spcBef>
                <a:spcPts val="1000"/>
              </a:spcBef>
              <a:spcAft>
                <a:spcPts val="0"/>
              </a:spcAft>
              <a:buSzPts val="1600"/>
              <a:buFont typeface="Open Sans"/>
              <a:buAutoNum type="arabicPeriod"/>
            </a:pPr>
            <a:r>
              <a:rPr b="1" lang="en" sz="1600">
                <a:latin typeface="Open Sans"/>
                <a:ea typeface="Open Sans"/>
                <a:cs typeface="Open Sans"/>
                <a:sym typeface="Open Sans"/>
              </a:rPr>
              <a:t>Converts nested dictionary to a JSON array</a:t>
            </a:r>
            <a:r>
              <a:rPr lang="en" sz="1600">
                <a:latin typeface="Open Sans"/>
                <a:ea typeface="Open Sans"/>
                <a:cs typeface="Open Sans"/>
                <a:sym typeface="Open Sans"/>
              </a:rPr>
              <a:t>; saves the JSON file to local storage</a:t>
            </a:r>
            <a:endParaRPr sz="1600">
              <a:latin typeface="Open Sans"/>
              <a:ea typeface="Open Sans"/>
              <a:cs typeface="Open Sans"/>
              <a:sym typeface="Open Sans"/>
            </a:endParaRPr>
          </a:p>
          <a:p>
            <a:pPr indent="-330200" lvl="0" marL="457200" rtl="0" algn="l">
              <a:lnSpc>
                <a:spcPct val="115000"/>
              </a:lnSpc>
              <a:spcBef>
                <a:spcPts val="1000"/>
              </a:spcBef>
              <a:spcAft>
                <a:spcPts val="1000"/>
              </a:spcAft>
              <a:buSzPts val="1600"/>
              <a:buFont typeface="Open Sans"/>
              <a:buAutoNum type="arabicPeriod"/>
            </a:pPr>
            <a:r>
              <a:rPr b="1" lang="en" sz="1600">
                <a:latin typeface="Open Sans"/>
                <a:ea typeface="Open Sans"/>
                <a:cs typeface="Open Sans"/>
                <a:sym typeface="Open Sans"/>
              </a:rPr>
              <a:t>Generates visualizations: </a:t>
            </a:r>
            <a:r>
              <a:rPr lang="en" sz="1600">
                <a:latin typeface="Open Sans"/>
                <a:ea typeface="Open Sans"/>
                <a:cs typeface="Open Sans"/>
                <a:sym typeface="Open Sans"/>
              </a:rPr>
              <a:t>loads the saved JSON file, converts it to a dataframe, and plots visualizations to analyze the metadata</a:t>
            </a:r>
            <a:endParaRPr sz="1600">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ucida Sans"/>
                <a:ea typeface="Lucida Sans"/>
                <a:cs typeface="Lucida Sans"/>
                <a:sym typeface="Lucida Sans"/>
              </a:rPr>
              <a:t>Existing Information Structure</a:t>
            </a:r>
            <a:endParaRPr>
              <a:latin typeface="Lucida Sans"/>
              <a:ea typeface="Lucida Sans"/>
              <a:cs typeface="Lucida Sans"/>
              <a:sym typeface="Lucida Sans"/>
            </a:endParaRPr>
          </a:p>
        </p:txBody>
      </p:sp>
      <p:pic>
        <p:nvPicPr>
          <p:cNvPr id="101" name="Google Shape;101;p19"/>
          <p:cNvPicPr preferRelativeResize="0"/>
          <p:nvPr/>
        </p:nvPicPr>
        <p:blipFill>
          <a:blip r:embed="rId3">
            <a:alphaModFix/>
          </a:blip>
          <a:stretch>
            <a:fillRect/>
          </a:stretch>
        </p:blipFill>
        <p:spPr>
          <a:xfrm>
            <a:off x="345550" y="3046500"/>
            <a:ext cx="8452900" cy="1857325"/>
          </a:xfrm>
          <a:prstGeom prst="rect">
            <a:avLst/>
          </a:prstGeom>
          <a:noFill/>
          <a:ln cap="flat" cmpd="sng" w="9525">
            <a:solidFill>
              <a:srgbClr val="980000"/>
            </a:solidFill>
            <a:prstDash val="solid"/>
            <a:round/>
            <a:headEnd len="sm" w="sm" type="none"/>
            <a:tailEnd len="sm" w="sm" type="none"/>
          </a:ln>
        </p:spPr>
      </p:pic>
      <p:pic>
        <p:nvPicPr>
          <p:cNvPr id="102" name="Google Shape;102;p19"/>
          <p:cNvPicPr preferRelativeResize="0"/>
          <p:nvPr/>
        </p:nvPicPr>
        <p:blipFill>
          <a:blip r:embed="rId4">
            <a:alphaModFix/>
          </a:blip>
          <a:stretch>
            <a:fillRect/>
          </a:stretch>
        </p:blipFill>
        <p:spPr>
          <a:xfrm>
            <a:off x="311700" y="1147075"/>
            <a:ext cx="8679899" cy="1704419"/>
          </a:xfrm>
          <a:prstGeom prst="rect">
            <a:avLst/>
          </a:prstGeom>
          <a:noFill/>
          <a:ln cap="flat" cmpd="sng" w="9525">
            <a:solidFill>
              <a:srgbClr val="980000"/>
            </a:solidFill>
            <a:prstDash val="solid"/>
            <a:round/>
            <a:headEnd len="sm" w="sm" type="none"/>
            <a:tailEnd len="sm" w="sm" type="none"/>
          </a:ln>
        </p:spPr>
      </p:pic>
      <p:pic>
        <p:nvPicPr>
          <p:cNvPr id="103" name="Google Shape;103;p19" title="logo_42.png"/>
          <p:cNvPicPr preferRelativeResize="0"/>
          <p:nvPr/>
        </p:nvPicPr>
        <p:blipFill>
          <a:blip r:embed="rId5">
            <a:alphaModFix/>
          </a:blip>
          <a:stretch>
            <a:fillRect/>
          </a:stretch>
        </p:blipFill>
        <p:spPr>
          <a:xfrm>
            <a:off x="7706700" y="165225"/>
            <a:ext cx="1271650" cy="875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ucida Sans"/>
                <a:ea typeface="Lucida Sans"/>
                <a:cs typeface="Lucida Sans"/>
                <a:sym typeface="Lucida Sans"/>
              </a:rPr>
              <a:t>Existing Information Structure</a:t>
            </a:r>
            <a:endParaRPr>
              <a:latin typeface="Lucida Sans"/>
              <a:ea typeface="Lucida Sans"/>
              <a:cs typeface="Lucida Sans"/>
              <a:sym typeface="Lucida Sans"/>
            </a:endParaRPr>
          </a:p>
        </p:txBody>
      </p:sp>
      <p:sp>
        <p:nvSpPr>
          <p:cNvPr id="109" name="Google Shape;109;p20"/>
          <p:cNvSpPr txBox="1"/>
          <p:nvPr/>
        </p:nvSpPr>
        <p:spPr>
          <a:xfrm>
            <a:off x="402800" y="1111575"/>
            <a:ext cx="82902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600">
                <a:solidFill>
                  <a:schemeClr val="dk2"/>
                </a:solidFill>
              </a:rPr>
              <a:t>&lt;div class="wrapper"&gt;</a:t>
            </a:r>
            <a:endParaRPr sz="1600">
              <a:solidFill>
                <a:schemeClr val="dk2"/>
              </a:solidFill>
            </a:endParaRPr>
          </a:p>
          <a:p>
            <a:pPr indent="0" lvl="0" marL="0" rtl="0" algn="l">
              <a:spcBef>
                <a:spcPts val="0"/>
              </a:spcBef>
              <a:spcAft>
                <a:spcPts val="0"/>
              </a:spcAft>
              <a:buClr>
                <a:schemeClr val="dk1"/>
              </a:buClr>
              <a:buSzPts val="1100"/>
              <a:buFont typeface="Arial"/>
              <a:buNone/>
            </a:pPr>
            <a:r>
              <a:rPr lang="en" sz="1600">
                <a:solidFill>
                  <a:schemeClr val="dk2"/>
                </a:solidFill>
              </a:rPr>
              <a:t>&lt;dl class="work meta group"&gt;</a:t>
            </a:r>
            <a:endParaRPr sz="1600">
              <a:solidFill>
                <a:schemeClr val="dk2"/>
              </a:solidFill>
            </a:endParaRPr>
          </a:p>
          <a:p>
            <a:pPr indent="0" lvl="0" marL="0" rtl="0" algn="l">
              <a:spcBef>
                <a:spcPts val="0"/>
              </a:spcBef>
              <a:spcAft>
                <a:spcPts val="0"/>
              </a:spcAft>
              <a:buClr>
                <a:schemeClr val="dk1"/>
              </a:buClr>
              <a:buSzPts val="1100"/>
              <a:buFont typeface="Arial"/>
              <a:buNone/>
            </a:pPr>
            <a:r>
              <a:rPr lang="en" sz="1600">
                <a:solidFill>
                  <a:schemeClr val="dk2"/>
                </a:solidFill>
              </a:rPr>
              <a:t>&lt;dt class="rating tags"&gt;</a:t>
            </a:r>
            <a:endParaRPr sz="1600">
              <a:solidFill>
                <a:schemeClr val="dk2"/>
              </a:solidFill>
            </a:endParaRPr>
          </a:p>
          <a:p>
            <a:pPr indent="0" lvl="0" marL="0" rtl="0" algn="l">
              <a:spcBef>
                <a:spcPts val="0"/>
              </a:spcBef>
              <a:spcAft>
                <a:spcPts val="0"/>
              </a:spcAft>
              <a:buClr>
                <a:schemeClr val="dk1"/>
              </a:buClr>
              <a:buSzPts val="1100"/>
              <a:buFont typeface="Arial"/>
              <a:buNone/>
            </a:pPr>
            <a:r>
              <a:t/>
            </a:r>
            <a:endParaRPr sz="1600">
              <a:solidFill>
                <a:schemeClr val="dk2"/>
              </a:solidFill>
            </a:endParaRPr>
          </a:p>
          <a:p>
            <a:pPr indent="0" lvl="0" marL="0" rtl="0" algn="l">
              <a:spcBef>
                <a:spcPts val="0"/>
              </a:spcBef>
              <a:spcAft>
                <a:spcPts val="0"/>
              </a:spcAft>
              <a:buClr>
                <a:schemeClr val="dk1"/>
              </a:buClr>
              <a:buSzPts val="1100"/>
              <a:buFont typeface="Arial"/>
              <a:buNone/>
            </a:pPr>
            <a:r>
              <a:rPr lang="en" sz="1600">
                <a:solidFill>
                  <a:schemeClr val="dk2"/>
                </a:solidFill>
              </a:rPr>
              <a:t>              </a:t>
            </a:r>
            <a:r>
              <a:rPr b="1" lang="en" sz="1600">
                <a:solidFill>
                  <a:srgbClr val="980000"/>
                </a:solidFill>
              </a:rPr>
              <a:t>Rating:</a:t>
            </a:r>
            <a:endParaRPr b="1" sz="1600">
              <a:solidFill>
                <a:srgbClr val="980000"/>
              </a:solidFill>
            </a:endParaRPr>
          </a:p>
          <a:p>
            <a:pPr indent="0" lvl="0" marL="0" rtl="0" algn="l">
              <a:spcBef>
                <a:spcPts val="0"/>
              </a:spcBef>
              <a:spcAft>
                <a:spcPts val="0"/>
              </a:spcAft>
              <a:buClr>
                <a:schemeClr val="dk1"/>
              </a:buClr>
              <a:buSzPts val="1100"/>
              <a:buFont typeface="Arial"/>
              <a:buNone/>
            </a:pPr>
            <a:r>
              <a:rPr b="1" lang="en" sz="1600">
                <a:solidFill>
                  <a:srgbClr val="980000"/>
                </a:solidFill>
              </a:rPr>
              <a:t>          &lt;/dt&gt;</a:t>
            </a:r>
            <a:endParaRPr b="1" sz="1600">
              <a:solidFill>
                <a:srgbClr val="980000"/>
              </a:solidFill>
            </a:endParaRPr>
          </a:p>
          <a:p>
            <a:pPr indent="0" lvl="0" marL="0" rtl="0" algn="l">
              <a:spcBef>
                <a:spcPts val="0"/>
              </a:spcBef>
              <a:spcAft>
                <a:spcPts val="0"/>
              </a:spcAft>
              <a:buClr>
                <a:schemeClr val="dk1"/>
              </a:buClr>
              <a:buSzPts val="1100"/>
              <a:buFont typeface="Arial"/>
              <a:buNone/>
            </a:pPr>
            <a:r>
              <a:rPr b="1" lang="en" sz="1600">
                <a:solidFill>
                  <a:srgbClr val="980000"/>
                </a:solidFill>
              </a:rPr>
              <a:t>&lt;dd class="rating tags"&gt;</a:t>
            </a:r>
            <a:endParaRPr b="1" sz="1600">
              <a:solidFill>
                <a:srgbClr val="980000"/>
              </a:solidFill>
            </a:endParaRPr>
          </a:p>
          <a:p>
            <a:pPr indent="0" lvl="0" marL="0" rtl="0" algn="l">
              <a:spcBef>
                <a:spcPts val="0"/>
              </a:spcBef>
              <a:spcAft>
                <a:spcPts val="0"/>
              </a:spcAft>
              <a:buClr>
                <a:schemeClr val="dk1"/>
              </a:buClr>
              <a:buSzPts val="1100"/>
              <a:buFont typeface="Arial"/>
              <a:buNone/>
            </a:pPr>
            <a:r>
              <a:rPr b="1" lang="en" sz="1600">
                <a:solidFill>
                  <a:srgbClr val="980000"/>
                </a:solidFill>
              </a:rPr>
              <a:t>&lt;ul class="commas"&gt;</a:t>
            </a:r>
            <a:endParaRPr b="1" sz="1600">
              <a:solidFill>
                <a:srgbClr val="980000"/>
              </a:solidFill>
            </a:endParaRPr>
          </a:p>
          <a:p>
            <a:pPr indent="0" lvl="0" marL="0" rtl="0" algn="l">
              <a:spcBef>
                <a:spcPts val="0"/>
              </a:spcBef>
              <a:spcAft>
                <a:spcPts val="0"/>
              </a:spcAft>
              <a:buClr>
                <a:schemeClr val="dk1"/>
              </a:buClr>
              <a:buSzPts val="1100"/>
              <a:buFont typeface="Arial"/>
              <a:buNone/>
            </a:pPr>
            <a:r>
              <a:rPr b="1" lang="en" sz="1600">
                <a:solidFill>
                  <a:srgbClr val="980000"/>
                </a:solidFill>
              </a:rPr>
              <a:t>&lt;li&gt;&lt;a class="tag" href="/tags/Mature/works"&gt;Mature&lt;/a&gt;&lt;/li&gt;</a:t>
            </a:r>
            <a:endParaRPr b="1" sz="1600">
              <a:solidFill>
                <a:srgbClr val="980000"/>
              </a:solidFill>
            </a:endParaRPr>
          </a:p>
          <a:p>
            <a:pPr indent="0" lvl="0" marL="0" rtl="0" algn="l">
              <a:spcBef>
                <a:spcPts val="0"/>
              </a:spcBef>
              <a:spcAft>
                <a:spcPts val="0"/>
              </a:spcAft>
              <a:buClr>
                <a:schemeClr val="dk1"/>
              </a:buClr>
              <a:buSzPts val="1100"/>
              <a:buFont typeface="Arial"/>
              <a:buNone/>
            </a:pPr>
            <a:r>
              <a:rPr lang="en" sz="1600">
                <a:solidFill>
                  <a:schemeClr val="dk2"/>
                </a:solidFill>
              </a:rPr>
              <a:t>&lt;/ul&gt;</a:t>
            </a:r>
            <a:endParaRPr sz="1600">
              <a:solidFill>
                <a:schemeClr val="dk2"/>
              </a:solidFill>
            </a:endParaRPr>
          </a:p>
          <a:p>
            <a:pPr indent="0" lvl="0" marL="0" rtl="0" algn="l">
              <a:spcBef>
                <a:spcPts val="0"/>
              </a:spcBef>
              <a:spcAft>
                <a:spcPts val="0"/>
              </a:spcAft>
              <a:buClr>
                <a:schemeClr val="dk1"/>
              </a:buClr>
              <a:buSzPts val="1100"/>
              <a:buFont typeface="Arial"/>
              <a:buNone/>
            </a:pPr>
            <a:r>
              <a:rPr lang="en" sz="1600">
                <a:solidFill>
                  <a:schemeClr val="dk2"/>
                </a:solidFill>
              </a:rPr>
              <a:t>&lt;/dd&gt;</a:t>
            </a:r>
            <a:endParaRPr sz="1600">
              <a:solidFill>
                <a:schemeClr val="dk2"/>
              </a:solidFill>
            </a:endParaRPr>
          </a:p>
          <a:p>
            <a:pPr indent="0" lvl="0" marL="0" rtl="0" algn="l">
              <a:spcBef>
                <a:spcPts val="0"/>
              </a:spcBef>
              <a:spcAft>
                <a:spcPts val="0"/>
              </a:spcAft>
              <a:buClr>
                <a:schemeClr val="dk1"/>
              </a:buClr>
              <a:buSzPts val="1100"/>
              <a:buFont typeface="Arial"/>
              <a:buNone/>
            </a:pPr>
            <a:r>
              <a:rPr lang="en" sz="1600">
                <a:solidFill>
                  <a:schemeClr val="dk2"/>
                </a:solidFill>
              </a:rPr>
              <a:t>&lt;dt class="warning tags"&gt;</a:t>
            </a:r>
            <a:endParaRPr sz="1600">
              <a:solidFill>
                <a:schemeClr val="dk2"/>
              </a:solidFill>
            </a:endParaRPr>
          </a:p>
          <a:p>
            <a:pPr indent="0" lvl="0" marL="0" rtl="0" algn="l">
              <a:spcBef>
                <a:spcPts val="0"/>
              </a:spcBef>
              <a:spcAft>
                <a:spcPts val="0"/>
              </a:spcAft>
              <a:buClr>
                <a:schemeClr val="dk1"/>
              </a:buClr>
              <a:buSzPts val="1100"/>
              <a:buFont typeface="Arial"/>
              <a:buNone/>
            </a:pPr>
            <a:r>
              <a:rPr lang="en" sz="1600">
                <a:solidFill>
                  <a:schemeClr val="dk2"/>
                </a:solidFill>
              </a:rPr>
              <a:t>&lt;a href="/tos_faq#tags"&gt;Archive Warning&lt;/a&gt;:</a:t>
            </a:r>
            <a:endParaRPr sz="1600">
              <a:solidFill>
                <a:schemeClr val="dk2"/>
              </a:solidFill>
            </a:endParaRPr>
          </a:p>
          <a:p>
            <a:pPr indent="0" lvl="0" marL="0" rtl="0" algn="l">
              <a:spcBef>
                <a:spcPts val="0"/>
              </a:spcBef>
              <a:spcAft>
                <a:spcPts val="0"/>
              </a:spcAft>
              <a:buClr>
                <a:schemeClr val="dk1"/>
              </a:buClr>
              <a:buSzPts val="1100"/>
              <a:buFont typeface="Arial"/>
              <a:buNone/>
            </a:pPr>
            <a:r>
              <a:rPr lang="en" sz="1600">
                <a:solidFill>
                  <a:schemeClr val="dk2"/>
                </a:solidFill>
              </a:rPr>
              <a:t>          &lt;/dt&gt;</a:t>
            </a:r>
            <a:endParaRPr sz="1600">
              <a:solidFill>
                <a:schemeClr val="dk2"/>
              </a:solidFill>
            </a:endParaRPr>
          </a:p>
        </p:txBody>
      </p:sp>
      <p:sp>
        <p:nvSpPr>
          <p:cNvPr id="110" name="Google Shape;110;p20"/>
          <p:cNvSpPr txBox="1"/>
          <p:nvPr/>
        </p:nvSpPr>
        <p:spPr>
          <a:xfrm>
            <a:off x="6907400" y="1840125"/>
            <a:ext cx="1785600" cy="217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2"/>
                </a:solidFill>
              </a:rPr>
              <a:t>Snippet of BeautifulSoup object for one Ao3 fanwork after scraping the html document.</a:t>
            </a:r>
            <a:endParaRPr b="1" sz="1800">
              <a:solidFill>
                <a:schemeClr val="dk2"/>
              </a:solidFill>
            </a:endParaRPr>
          </a:p>
        </p:txBody>
      </p:sp>
      <p:pic>
        <p:nvPicPr>
          <p:cNvPr id="111" name="Google Shape;111;p20" title="logo_42.png"/>
          <p:cNvPicPr preferRelativeResize="0"/>
          <p:nvPr/>
        </p:nvPicPr>
        <p:blipFill>
          <a:blip r:embed="rId3">
            <a:alphaModFix/>
          </a:blip>
          <a:stretch>
            <a:fillRect/>
          </a:stretch>
        </p:blipFill>
        <p:spPr>
          <a:xfrm>
            <a:off x="7706700" y="165225"/>
            <a:ext cx="1271650" cy="875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ucida Sans"/>
                <a:ea typeface="Lucida Sans"/>
                <a:cs typeface="Lucida Sans"/>
                <a:sym typeface="Lucida Sans"/>
              </a:rPr>
              <a:t>Existing Information Structure</a:t>
            </a:r>
            <a:endParaRPr>
              <a:latin typeface="Lucida Sans"/>
              <a:ea typeface="Lucida Sans"/>
              <a:cs typeface="Lucida Sans"/>
              <a:sym typeface="Lucida Sans"/>
            </a:endParaRPr>
          </a:p>
        </p:txBody>
      </p:sp>
      <p:pic>
        <p:nvPicPr>
          <p:cNvPr id="117" name="Google Shape;117;p21"/>
          <p:cNvPicPr preferRelativeResize="0"/>
          <p:nvPr/>
        </p:nvPicPr>
        <p:blipFill>
          <a:blip r:embed="rId3">
            <a:alphaModFix/>
          </a:blip>
          <a:stretch>
            <a:fillRect/>
          </a:stretch>
        </p:blipFill>
        <p:spPr>
          <a:xfrm>
            <a:off x="311700" y="1076050"/>
            <a:ext cx="5008944" cy="3820975"/>
          </a:xfrm>
          <a:prstGeom prst="rect">
            <a:avLst/>
          </a:prstGeom>
          <a:noFill/>
          <a:ln cap="flat" cmpd="sng" w="9525">
            <a:solidFill>
              <a:srgbClr val="980000"/>
            </a:solidFill>
            <a:prstDash val="solid"/>
            <a:round/>
            <a:headEnd len="sm" w="sm" type="none"/>
            <a:tailEnd len="sm" w="sm" type="none"/>
          </a:ln>
        </p:spPr>
      </p:pic>
      <p:sp>
        <p:nvSpPr>
          <p:cNvPr id="118" name="Google Shape;118;p21"/>
          <p:cNvSpPr txBox="1"/>
          <p:nvPr/>
        </p:nvSpPr>
        <p:spPr>
          <a:xfrm>
            <a:off x="5813775" y="1483950"/>
            <a:ext cx="2820600" cy="217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u="sng">
                <a:solidFill>
                  <a:schemeClr val="hlink"/>
                </a:solidFill>
                <a:hlinkClick r:id="rId4"/>
              </a:rPr>
              <a:t>RSS Feed</a:t>
            </a:r>
            <a:r>
              <a:rPr b="1" lang="en" sz="1800">
                <a:solidFill>
                  <a:schemeClr val="dk2"/>
                </a:solidFill>
              </a:rPr>
              <a:t> for the fandom tag “Candela Obscura (Critical Role Web Series),” accessed June 2026</a:t>
            </a:r>
            <a:endParaRPr b="1" sz="1800">
              <a:solidFill>
                <a:schemeClr val="dk2"/>
              </a:solidFill>
            </a:endParaRPr>
          </a:p>
        </p:txBody>
      </p:sp>
      <p:pic>
        <p:nvPicPr>
          <p:cNvPr id="119" name="Google Shape;119;p21" title="logo_42.png"/>
          <p:cNvPicPr preferRelativeResize="0"/>
          <p:nvPr/>
        </p:nvPicPr>
        <p:blipFill>
          <a:blip r:embed="rId5">
            <a:alphaModFix/>
          </a:blip>
          <a:stretch>
            <a:fillRect/>
          </a:stretch>
        </p:blipFill>
        <p:spPr>
          <a:xfrm>
            <a:off x="7706700" y="165225"/>
            <a:ext cx="1271650" cy="875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88275" y="104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ucida Sans"/>
                <a:ea typeface="Lucida Sans"/>
                <a:cs typeface="Lucida Sans"/>
                <a:sym typeface="Lucida Sans"/>
              </a:rPr>
              <a:t>F.A.I.R. Assessment</a:t>
            </a:r>
            <a:endParaRPr>
              <a:latin typeface="Lucida Sans"/>
              <a:ea typeface="Lucida Sans"/>
              <a:cs typeface="Lucida Sans"/>
              <a:sym typeface="Lucida Sans"/>
            </a:endParaRPr>
          </a:p>
        </p:txBody>
      </p:sp>
      <p:graphicFrame>
        <p:nvGraphicFramePr>
          <p:cNvPr id="125" name="Google Shape;125;p22"/>
          <p:cNvGraphicFramePr/>
          <p:nvPr/>
        </p:nvGraphicFramePr>
        <p:xfrm>
          <a:off x="211650" y="676700"/>
          <a:ext cx="3000000" cy="3000000"/>
        </p:xfrm>
        <a:graphic>
          <a:graphicData uri="http://schemas.openxmlformats.org/drawingml/2006/table">
            <a:tbl>
              <a:tblPr>
                <a:noFill/>
                <a:tableStyleId>{998AA421-A19D-4160-A900-9235581FD412}</a:tableStyleId>
              </a:tblPr>
              <a:tblGrid>
                <a:gridCol w="523975"/>
                <a:gridCol w="4475225"/>
                <a:gridCol w="3744800"/>
              </a:tblGrid>
              <a:tr h="184550">
                <a:tc>
                  <a:txBody>
                    <a:bodyPr/>
                    <a:lstStyle/>
                    <a:p>
                      <a:pPr indent="0" lvl="0" marL="0" rtl="0" algn="ctr">
                        <a:spcBef>
                          <a:spcPts val="0"/>
                        </a:spcBef>
                        <a:spcAft>
                          <a:spcPts val="0"/>
                        </a:spcAft>
                        <a:buNone/>
                      </a:pPr>
                      <a:r>
                        <a:t/>
                      </a:r>
                      <a:endParaRPr b="1" sz="1500">
                        <a:latin typeface="Lucida Sans"/>
                        <a:ea typeface="Lucida Sans"/>
                        <a:cs typeface="Lucida Sans"/>
                        <a:sym typeface="Lucida Sans"/>
                      </a:endParaRPr>
                    </a:p>
                  </a:txBody>
                  <a:tcPr marT="91425" marB="91425" marR="91425" marL="91425"/>
                </a:tc>
                <a:tc>
                  <a:txBody>
                    <a:bodyPr/>
                    <a:lstStyle/>
                    <a:p>
                      <a:pPr indent="0" lvl="0" marL="0" rtl="0" algn="ctr">
                        <a:spcBef>
                          <a:spcPts val="0"/>
                        </a:spcBef>
                        <a:spcAft>
                          <a:spcPts val="0"/>
                        </a:spcAft>
                        <a:buNone/>
                      </a:pPr>
                      <a:r>
                        <a:rPr b="1" lang="en" sz="1500">
                          <a:latin typeface="Lucida Sans"/>
                          <a:ea typeface="Lucida Sans"/>
                          <a:cs typeface="Lucida Sans"/>
                          <a:sym typeface="Lucida Sans"/>
                        </a:rPr>
                        <a:t>Strengths</a:t>
                      </a:r>
                      <a:endParaRPr b="1" sz="1500">
                        <a:latin typeface="Lucida Sans"/>
                        <a:ea typeface="Lucida Sans"/>
                        <a:cs typeface="Lucida Sans"/>
                        <a:sym typeface="Lucida Sans"/>
                      </a:endParaRPr>
                    </a:p>
                  </a:txBody>
                  <a:tcPr marT="91425" marB="91425" marR="91425" marL="91425"/>
                </a:tc>
                <a:tc>
                  <a:txBody>
                    <a:bodyPr/>
                    <a:lstStyle/>
                    <a:p>
                      <a:pPr indent="0" lvl="0" marL="0" rtl="0" algn="ctr">
                        <a:spcBef>
                          <a:spcPts val="0"/>
                        </a:spcBef>
                        <a:spcAft>
                          <a:spcPts val="0"/>
                        </a:spcAft>
                        <a:buNone/>
                      </a:pPr>
                      <a:r>
                        <a:rPr b="1" lang="en" sz="1500">
                          <a:latin typeface="Lucida Sans"/>
                          <a:ea typeface="Lucida Sans"/>
                          <a:cs typeface="Lucida Sans"/>
                          <a:sym typeface="Lucida Sans"/>
                        </a:rPr>
                        <a:t>Areas of Improvement</a:t>
                      </a:r>
                      <a:endParaRPr b="1" sz="1500">
                        <a:latin typeface="Lucida Sans"/>
                        <a:ea typeface="Lucida Sans"/>
                        <a:cs typeface="Lucida Sans"/>
                        <a:sym typeface="Lucida Sans"/>
                      </a:endParaRPr>
                    </a:p>
                  </a:txBody>
                  <a:tcPr marT="91425" marB="91425" marR="91425" marL="91425"/>
                </a:tc>
              </a:tr>
              <a:tr h="381000">
                <a:tc>
                  <a:txBody>
                    <a:bodyPr/>
                    <a:lstStyle/>
                    <a:p>
                      <a:pPr indent="0" lvl="0" marL="0" rtl="0" algn="ctr">
                        <a:spcBef>
                          <a:spcPts val="0"/>
                        </a:spcBef>
                        <a:spcAft>
                          <a:spcPts val="0"/>
                        </a:spcAft>
                        <a:buNone/>
                      </a:pPr>
                      <a:r>
                        <a:rPr b="1" lang="en" sz="1500">
                          <a:latin typeface="Lucida Sans"/>
                          <a:ea typeface="Lucida Sans"/>
                          <a:cs typeface="Lucida Sans"/>
                          <a:sym typeface="Lucida Sans"/>
                        </a:rPr>
                        <a:t>F</a:t>
                      </a:r>
                      <a:endParaRPr b="1" sz="1500">
                        <a:latin typeface="Lucida Sans"/>
                        <a:ea typeface="Lucida Sans"/>
                        <a:cs typeface="Lucida Sans"/>
                        <a:sym typeface="Lucida Sans"/>
                      </a:endParaRPr>
                    </a:p>
                  </a:txBody>
                  <a:tcPr marT="91425" marB="91425" marR="91425" marL="91425" anchor="ctr"/>
                </a:tc>
                <a:tc>
                  <a:txBody>
                    <a:bodyPr/>
                    <a:lstStyle/>
                    <a:p>
                      <a:pPr indent="-323850" lvl="0" marL="457200" rtl="0" algn="l">
                        <a:spcBef>
                          <a:spcPts val="0"/>
                        </a:spcBef>
                        <a:spcAft>
                          <a:spcPts val="0"/>
                        </a:spcAft>
                        <a:buSzPts val="1500"/>
                        <a:buFont typeface="Lucida Sans"/>
                        <a:buChar char="●"/>
                      </a:pPr>
                      <a:r>
                        <a:rPr lang="en" sz="1500">
                          <a:latin typeface="Lucida Sans"/>
                          <a:ea typeface="Lucida Sans"/>
                          <a:cs typeface="Lucida Sans"/>
                          <a:sym typeface="Lucida Sans"/>
                        </a:rPr>
                        <a:t>Persistent &amp; globally unique identifiers (F1)</a:t>
                      </a:r>
                      <a:endParaRPr sz="1500">
                        <a:latin typeface="Lucida Sans"/>
                        <a:ea typeface="Lucida Sans"/>
                        <a:cs typeface="Lucida Sans"/>
                        <a:sym typeface="Lucida Sans"/>
                      </a:endParaRPr>
                    </a:p>
                    <a:p>
                      <a:pPr indent="-323850" lvl="0" marL="457200" rtl="0" algn="l">
                        <a:spcBef>
                          <a:spcPts val="0"/>
                        </a:spcBef>
                        <a:spcAft>
                          <a:spcPts val="0"/>
                        </a:spcAft>
                        <a:buSzPts val="1500"/>
                        <a:buFont typeface="Lucida Sans"/>
                        <a:buChar char="●"/>
                      </a:pPr>
                      <a:r>
                        <a:rPr lang="en" sz="1500">
                          <a:latin typeface="Lucida Sans"/>
                          <a:ea typeface="Lucida Sans"/>
                          <a:cs typeface="Lucida Sans"/>
                          <a:sym typeface="Lucida Sans"/>
                        </a:rPr>
                        <a:t>Rich metadata provided (F2)</a:t>
                      </a:r>
                      <a:endParaRPr sz="1500">
                        <a:latin typeface="Lucida Sans"/>
                        <a:ea typeface="Lucida Sans"/>
                        <a:cs typeface="Lucida Sans"/>
                        <a:sym typeface="Lucida Sans"/>
                      </a:endParaRPr>
                    </a:p>
                  </a:txBody>
                  <a:tcPr marT="91425" marB="91425" marR="91425" marL="91425"/>
                </a:tc>
                <a:tc>
                  <a:txBody>
                    <a:bodyPr/>
                    <a:lstStyle/>
                    <a:p>
                      <a:pPr indent="0" lvl="0" marL="0" rtl="0" algn="l">
                        <a:spcBef>
                          <a:spcPts val="0"/>
                        </a:spcBef>
                        <a:spcAft>
                          <a:spcPts val="0"/>
                        </a:spcAft>
                        <a:buNone/>
                      </a:pPr>
                      <a:r>
                        <a:rPr lang="en" sz="1500">
                          <a:latin typeface="Lucida Sans"/>
                          <a:ea typeface="Lucida Sans"/>
                          <a:cs typeface="Lucida Sans"/>
                          <a:sym typeface="Lucida Sans"/>
                        </a:rPr>
                        <a:t>Metadata not easily harvested and indexed (F4)</a:t>
                      </a:r>
                      <a:endParaRPr sz="1500">
                        <a:latin typeface="Lucida Sans"/>
                        <a:ea typeface="Lucida Sans"/>
                        <a:cs typeface="Lucida Sans"/>
                        <a:sym typeface="Lucida Sans"/>
                      </a:endParaRPr>
                    </a:p>
                  </a:txBody>
                  <a:tcPr marT="91425" marB="91425" marR="91425" marL="91425"/>
                </a:tc>
              </a:tr>
              <a:tr h="381000">
                <a:tc>
                  <a:txBody>
                    <a:bodyPr/>
                    <a:lstStyle/>
                    <a:p>
                      <a:pPr indent="0" lvl="0" marL="0" rtl="0" algn="ctr">
                        <a:spcBef>
                          <a:spcPts val="0"/>
                        </a:spcBef>
                        <a:spcAft>
                          <a:spcPts val="0"/>
                        </a:spcAft>
                        <a:buNone/>
                      </a:pPr>
                      <a:r>
                        <a:rPr b="1" lang="en" sz="1500">
                          <a:latin typeface="Lucida Sans"/>
                          <a:ea typeface="Lucida Sans"/>
                          <a:cs typeface="Lucida Sans"/>
                          <a:sym typeface="Lucida Sans"/>
                        </a:rPr>
                        <a:t>A</a:t>
                      </a:r>
                      <a:endParaRPr b="1" sz="1500">
                        <a:latin typeface="Lucida Sans"/>
                        <a:ea typeface="Lucida Sans"/>
                        <a:cs typeface="Lucida Sans"/>
                        <a:sym typeface="Lucida Sans"/>
                      </a:endParaRPr>
                    </a:p>
                  </a:txBody>
                  <a:tcPr marT="91425" marB="91425" marR="91425" marL="91425" anchor="ctr">
                    <a:solidFill>
                      <a:srgbClr val="EA9999"/>
                    </a:solidFill>
                  </a:tcPr>
                </a:tc>
                <a:tc>
                  <a:txBody>
                    <a:bodyPr/>
                    <a:lstStyle/>
                    <a:p>
                      <a:pPr indent="-323850" lvl="0" marL="457200" rtl="0" algn="l">
                        <a:spcBef>
                          <a:spcPts val="0"/>
                        </a:spcBef>
                        <a:spcAft>
                          <a:spcPts val="0"/>
                        </a:spcAft>
                        <a:buSzPts val="1500"/>
                        <a:buFont typeface="Lucida Sans"/>
                        <a:buChar char="●"/>
                      </a:pPr>
                      <a:r>
                        <a:rPr lang="en" sz="1500">
                          <a:latin typeface="Lucida Sans"/>
                          <a:ea typeface="Lucida Sans"/>
                          <a:cs typeface="Lucida Sans"/>
                          <a:sym typeface="Lucida Sans"/>
                        </a:rPr>
                        <a:t>Metadata accessible via human intervention and resolves to a digital record (A1)</a:t>
                      </a:r>
                      <a:endParaRPr sz="1500">
                        <a:latin typeface="Lucida Sans"/>
                        <a:ea typeface="Lucida Sans"/>
                        <a:cs typeface="Lucida Sans"/>
                        <a:sym typeface="Lucida Sans"/>
                      </a:endParaRPr>
                    </a:p>
                    <a:p>
                      <a:pPr indent="-323850" lvl="0" marL="457200" rtl="0" algn="l">
                        <a:spcBef>
                          <a:spcPts val="0"/>
                        </a:spcBef>
                        <a:spcAft>
                          <a:spcPts val="0"/>
                        </a:spcAft>
                        <a:buSzPts val="1500"/>
                        <a:buFont typeface="Lucida Sans"/>
                        <a:buChar char="●"/>
                      </a:pPr>
                      <a:r>
                        <a:rPr lang="en" sz="1500">
                          <a:latin typeface="Lucida Sans"/>
                          <a:ea typeface="Lucida Sans"/>
                          <a:cs typeface="Lucida Sans"/>
                          <a:sym typeface="Lucida Sans"/>
                        </a:rPr>
                        <a:t>Data available through free access protocol (A2)</a:t>
                      </a:r>
                      <a:endParaRPr sz="1500">
                        <a:latin typeface="Lucida Sans"/>
                        <a:ea typeface="Lucida Sans"/>
                        <a:cs typeface="Lucida Sans"/>
                        <a:sym typeface="Lucida Sans"/>
                      </a:endParaRPr>
                    </a:p>
                  </a:txBody>
                  <a:tcPr marT="91425" marB="91425" marR="91425" marL="91425"/>
                </a:tc>
                <a:tc>
                  <a:txBody>
                    <a:bodyPr/>
                    <a:lstStyle/>
                    <a:p>
                      <a:pPr indent="-323850" lvl="0" marL="457200" rtl="0" algn="l">
                        <a:spcBef>
                          <a:spcPts val="0"/>
                        </a:spcBef>
                        <a:spcAft>
                          <a:spcPts val="0"/>
                        </a:spcAft>
                        <a:buSzPts val="1500"/>
                        <a:buFont typeface="Lucida Sans"/>
                        <a:buChar char="●"/>
                      </a:pPr>
                      <a:r>
                        <a:rPr lang="en" sz="1500">
                          <a:latin typeface="Lucida Sans"/>
                          <a:ea typeface="Lucida Sans"/>
                          <a:cs typeface="Lucida Sans"/>
                          <a:sym typeface="Lucida Sans"/>
                        </a:rPr>
                        <a:t>No standardized access protocol for metadata (A1) </a:t>
                      </a:r>
                      <a:endParaRPr sz="1500">
                        <a:latin typeface="Lucida Sans"/>
                        <a:ea typeface="Lucida Sans"/>
                        <a:cs typeface="Lucida Sans"/>
                        <a:sym typeface="Lucida Sans"/>
                      </a:endParaRPr>
                    </a:p>
                    <a:p>
                      <a:pPr indent="-323850" lvl="0" marL="457200" rtl="0" algn="l">
                        <a:spcBef>
                          <a:spcPts val="0"/>
                        </a:spcBef>
                        <a:spcAft>
                          <a:spcPts val="0"/>
                        </a:spcAft>
                        <a:buSzPts val="1500"/>
                        <a:buFont typeface="Lucida Sans"/>
                        <a:buChar char="●"/>
                      </a:pPr>
                      <a:r>
                        <a:rPr lang="en" sz="1500">
                          <a:latin typeface="Lucida Sans"/>
                          <a:ea typeface="Lucida Sans"/>
                          <a:cs typeface="Lucida Sans"/>
                          <a:sym typeface="Lucida Sans"/>
                        </a:rPr>
                        <a:t>Metadata not guaranteed to remain available after data is no longer available (A2)</a:t>
                      </a:r>
                      <a:endParaRPr sz="1500">
                        <a:latin typeface="Lucida Sans"/>
                        <a:ea typeface="Lucida Sans"/>
                        <a:cs typeface="Lucida Sans"/>
                        <a:sym typeface="Lucida Sans"/>
                      </a:endParaRPr>
                    </a:p>
                  </a:txBody>
                  <a:tcPr marT="91425" marB="91425" marR="91425" marL="91425">
                    <a:solidFill>
                      <a:srgbClr val="EA9999"/>
                    </a:solidFill>
                  </a:tcPr>
                </a:tc>
              </a:tr>
              <a:tr h="100000">
                <a:tc>
                  <a:txBody>
                    <a:bodyPr/>
                    <a:lstStyle/>
                    <a:p>
                      <a:pPr indent="0" lvl="0" marL="0" rtl="0" algn="ctr">
                        <a:spcBef>
                          <a:spcPts val="0"/>
                        </a:spcBef>
                        <a:spcAft>
                          <a:spcPts val="0"/>
                        </a:spcAft>
                        <a:buNone/>
                      </a:pPr>
                      <a:r>
                        <a:rPr b="1" lang="en" sz="1500">
                          <a:latin typeface="Lucida Sans"/>
                          <a:ea typeface="Lucida Sans"/>
                          <a:cs typeface="Lucida Sans"/>
                          <a:sym typeface="Lucida Sans"/>
                        </a:rPr>
                        <a:t>I</a:t>
                      </a:r>
                      <a:endParaRPr b="1" sz="1500">
                        <a:latin typeface="Lucida Sans"/>
                        <a:ea typeface="Lucida Sans"/>
                        <a:cs typeface="Lucida Sans"/>
                        <a:sym typeface="Lucida Sans"/>
                      </a:endParaRPr>
                    </a:p>
                  </a:txBody>
                  <a:tcPr marT="91425" marB="91425" marR="91425" marL="91425" anchor="ctr"/>
                </a:tc>
                <a:tc>
                  <a:txBody>
                    <a:bodyPr/>
                    <a:lstStyle/>
                    <a:p>
                      <a:pPr indent="-323850" lvl="0" marL="457200" rtl="0" algn="l">
                        <a:spcBef>
                          <a:spcPts val="0"/>
                        </a:spcBef>
                        <a:spcAft>
                          <a:spcPts val="0"/>
                        </a:spcAft>
                        <a:buSzPts val="1500"/>
                        <a:buFont typeface="Lucida Sans"/>
                        <a:buChar char="●"/>
                      </a:pPr>
                      <a:r>
                        <a:rPr lang="en" sz="1500">
                          <a:latin typeface="Lucida Sans"/>
                          <a:ea typeface="Lucida Sans"/>
                          <a:cs typeface="Lucida Sans"/>
                          <a:sym typeface="Lucida Sans"/>
                        </a:rPr>
                        <a:t>Metadata references other metadata (I3)</a:t>
                      </a:r>
                      <a:endParaRPr sz="1500">
                        <a:latin typeface="Lucida Sans"/>
                        <a:ea typeface="Lucida Sans"/>
                        <a:cs typeface="Lucida Sans"/>
                        <a:sym typeface="Lucida Sans"/>
                      </a:endParaRPr>
                    </a:p>
                    <a:p>
                      <a:pPr indent="-323850" lvl="0" marL="457200" rtl="0" algn="l">
                        <a:spcBef>
                          <a:spcPts val="0"/>
                        </a:spcBef>
                        <a:spcAft>
                          <a:spcPts val="0"/>
                        </a:spcAft>
                        <a:buSzPts val="1500"/>
                        <a:buFont typeface="Lucida Sans"/>
                        <a:buChar char="●"/>
                      </a:pPr>
                      <a:r>
                        <a:rPr lang="en" sz="1500">
                          <a:latin typeface="Lucida Sans"/>
                          <a:ea typeface="Lucida Sans"/>
                          <a:cs typeface="Lucida Sans"/>
                          <a:sym typeface="Lucida Sans"/>
                        </a:rPr>
                        <a:t>Data uses standardized &amp; machine-understandable knowledge representation (I1)</a:t>
                      </a:r>
                      <a:endParaRPr sz="1500">
                        <a:latin typeface="Lucida Sans"/>
                        <a:ea typeface="Lucida Sans"/>
                        <a:cs typeface="Lucida Sans"/>
                        <a:sym typeface="Lucida Sans"/>
                      </a:endParaRPr>
                    </a:p>
                  </a:txBody>
                  <a:tcPr marT="91425" marB="91425" marR="91425" marL="91425"/>
                </a:tc>
                <a:tc>
                  <a:txBody>
                    <a:bodyPr/>
                    <a:lstStyle/>
                    <a:p>
                      <a:pPr indent="0" lvl="0" marL="0" rtl="0" algn="l">
                        <a:spcBef>
                          <a:spcPts val="0"/>
                        </a:spcBef>
                        <a:spcAft>
                          <a:spcPts val="0"/>
                        </a:spcAft>
                        <a:buNone/>
                      </a:pPr>
                      <a:r>
                        <a:rPr lang="en" sz="1500">
                          <a:latin typeface="Lucida Sans"/>
                          <a:ea typeface="Lucida Sans"/>
                          <a:cs typeface="Lucida Sans"/>
                          <a:sym typeface="Lucida Sans"/>
                        </a:rPr>
                        <a:t>Metadata doesn’t use machine-understandable knowledge representation (I1)</a:t>
                      </a:r>
                      <a:endParaRPr sz="1500">
                        <a:latin typeface="Lucida Sans"/>
                        <a:ea typeface="Lucida Sans"/>
                        <a:cs typeface="Lucida Sans"/>
                        <a:sym typeface="Lucida Sans"/>
                      </a:endParaRPr>
                    </a:p>
                  </a:txBody>
                  <a:tcPr marT="91425" marB="91425" marR="91425" marL="91425"/>
                </a:tc>
              </a:tr>
              <a:tr h="381000">
                <a:tc>
                  <a:txBody>
                    <a:bodyPr/>
                    <a:lstStyle/>
                    <a:p>
                      <a:pPr indent="0" lvl="0" marL="0" rtl="0" algn="ctr">
                        <a:spcBef>
                          <a:spcPts val="0"/>
                        </a:spcBef>
                        <a:spcAft>
                          <a:spcPts val="0"/>
                        </a:spcAft>
                        <a:buNone/>
                      </a:pPr>
                      <a:r>
                        <a:rPr b="1" lang="en" sz="1500">
                          <a:latin typeface="Lucida Sans"/>
                          <a:ea typeface="Lucida Sans"/>
                          <a:cs typeface="Lucida Sans"/>
                          <a:sym typeface="Lucida Sans"/>
                        </a:rPr>
                        <a:t>R</a:t>
                      </a:r>
                      <a:endParaRPr b="1" sz="1500">
                        <a:latin typeface="Lucida Sans"/>
                        <a:ea typeface="Lucida Sans"/>
                        <a:cs typeface="Lucida Sans"/>
                        <a:sym typeface="Lucida Sans"/>
                      </a:endParaRPr>
                    </a:p>
                  </a:txBody>
                  <a:tcPr marT="91425" marB="91425" marR="91425" marL="91425" anchor="ctr"/>
                </a:tc>
                <a:tc>
                  <a:txBody>
                    <a:bodyPr/>
                    <a:lstStyle/>
                    <a:p>
                      <a:pPr indent="-323850" lvl="0" marL="457200" rtl="0" algn="l">
                        <a:spcBef>
                          <a:spcPts val="0"/>
                        </a:spcBef>
                        <a:spcAft>
                          <a:spcPts val="0"/>
                        </a:spcAft>
                        <a:buSzPts val="1500"/>
                        <a:buFont typeface="Lucida Sans"/>
                        <a:buChar char="●"/>
                      </a:pPr>
                      <a:r>
                        <a:rPr lang="en" sz="1500">
                          <a:latin typeface="Lucida Sans"/>
                          <a:ea typeface="Lucida Sans"/>
                          <a:cs typeface="Lucida Sans"/>
                          <a:sym typeface="Lucida Sans"/>
                        </a:rPr>
                        <a:t>Metadata and data comply with human  community standards (R1.3)</a:t>
                      </a:r>
                      <a:endParaRPr sz="1500">
                        <a:latin typeface="Lucida Sans"/>
                        <a:ea typeface="Lucida Sans"/>
                        <a:cs typeface="Lucida Sans"/>
                        <a:sym typeface="Lucida Sans"/>
                      </a:endParaRPr>
                    </a:p>
                  </a:txBody>
                  <a:tcPr marT="91425" marB="91425" marR="91425" marL="91425"/>
                </a:tc>
                <a:tc>
                  <a:txBody>
                    <a:bodyPr/>
                    <a:lstStyle/>
                    <a:p>
                      <a:pPr indent="0" lvl="0" marL="0" rtl="0" algn="l">
                        <a:spcBef>
                          <a:spcPts val="0"/>
                        </a:spcBef>
                        <a:spcAft>
                          <a:spcPts val="0"/>
                        </a:spcAft>
                        <a:buNone/>
                      </a:pPr>
                      <a:r>
                        <a:rPr lang="en" sz="1500">
                          <a:latin typeface="Lucida Sans"/>
                          <a:ea typeface="Lucida Sans"/>
                          <a:cs typeface="Lucida Sans"/>
                          <a:sym typeface="Lucida Sans"/>
                        </a:rPr>
                        <a:t>No standard / machine readable reuse license (R1.1)</a:t>
                      </a:r>
                      <a:endParaRPr sz="1500">
                        <a:latin typeface="Lucida Sans"/>
                        <a:ea typeface="Lucida Sans"/>
                        <a:cs typeface="Lucida Sans"/>
                        <a:sym typeface="Lucida Sans"/>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ucida Sans"/>
                <a:ea typeface="Lucida Sans"/>
                <a:cs typeface="Lucida Sans"/>
                <a:sym typeface="Lucida Sans"/>
              </a:rPr>
              <a:t>Baseline Metadata Structure </a:t>
            </a:r>
            <a:r>
              <a:rPr lang="en" sz="1750">
                <a:latin typeface="Lucida Sans"/>
                <a:ea typeface="Lucida Sans"/>
                <a:cs typeface="Lucida Sans"/>
                <a:sym typeface="Lucida Sans"/>
              </a:rPr>
              <a:t>(as appears on Ao3)</a:t>
            </a:r>
            <a:endParaRPr sz="1750">
              <a:latin typeface="Lucida Sans"/>
              <a:ea typeface="Lucida Sans"/>
              <a:cs typeface="Lucida Sans"/>
              <a:sym typeface="Lucida Sans"/>
            </a:endParaRPr>
          </a:p>
        </p:txBody>
      </p:sp>
      <p:pic>
        <p:nvPicPr>
          <p:cNvPr id="131" name="Google Shape;131;p23"/>
          <p:cNvPicPr preferRelativeResize="0"/>
          <p:nvPr/>
        </p:nvPicPr>
        <p:blipFill>
          <a:blip r:embed="rId3">
            <a:alphaModFix/>
          </a:blip>
          <a:stretch>
            <a:fillRect/>
          </a:stretch>
        </p:blipFill>
        <p:spPr>
          <a:xfrm>
            <a:off x="232050" y="1178613"/>
            <a:ext cx="8679899" cy="1704419"/>
          </a:xfrm>
          <a:prstGeom prst="rect">
            <a:avLst/>
          </a:prstGeom>
          <a:noFill/>
          <a:ln cap="flat" cmpd="sng" w="9525">
            <a:solidFill>
              <a:srgbClr val="980000"/>
            </a:solidFill>
            <a:prstDash val="solid"/>
            <a:round/>
            <a:headEnd len="sm" w="sm" type="none"/>
            <a:tailEnd len="sm" w="sm" type="none"/>
          </a:ln>
        </p:spPr>
      </p:pic>
      <p:pic>
        <p:nvPicPr>
          <p:cNvPr id="132" name="Google Shape;132;p23"/>
          <p:cNvPicPr preferRelativeResize="0"/>
          <p:nvPr/>
        </p:nvPicPr>
        <p:blipFill>
          <a:blip r:embed="rId4">
            <a:alphaModFix/>
          </a:blip>
          <a:stretch>
            <a:fillRect/>
          </a:stretch>
        </p:blipFill>
        <p:spPr>
          <a:xfrm>
            <a:off x="345550" y="3046500"/>
            <a:ext cx="8452900" cy="1857325"/>
          </a:xfrm>
          <a:prstGeom prst="rect">
            <a:avLst/>
          </a:prstGeom>
          <a:noFill/>
          <a:ln cap="flat" cmpd="sng" w="9525">
            <a:solidFill>
              <a:srgbClr val="980000"/>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4"/>
          <p:cNvSpPr txBox="1"/>
          <p:nvPr>
            <p:ph type="title"/>
          </p:nvPr>
        </p:nvSpPr>
        <p:spPr>
          <a:xfrm>
            <a:off x="252900" y="374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ucida Sans"/>
                <a:ea typeface="Lucida Sans"/>
                <a:cs typeface="Lucida Sans"/>
                <a:sym typeface="Lucida Sans"/>
              </a:rPr>
              <a:t>Intermediate Metadata Structure </a:t>
            </a:r>
            <a:r>
              <a:rPr lang="en" sz="1800">
                <a:latin typeface="Lucida Sans"/>
                <a:ea typeface="Lucida Sans"/>
                <a:cs typeface="Lucida Sans"/>
                <a:sym typeface="Lucida Sans"/>
              </a:rPr>
              <a:t>(HTML, after web scraping)</a:t>
            </a:r>
            <a:endParaRPr sz="1800">
              <a:latin typeface="Lucida Sans"/>
              <a:ea typeface="Lucida Sans"/>
              <a:cs typeface="Lucida Sans"/>
              <a:sym typeface="Lucida Sans"/>
            </a:endParaRPr>
          </a:p>
        </p:txBody>
      </p:sp>
      <p:pic>
        <p:nvPicPr>
          <p:cNvPr id="138" name="Google Shape;138;p24"/>
          <p:cNvPicPr preferRelativeResize="0"/>
          <p:nvPr/>
        </p:nvPicPr>
        <p:blipFill>
          <a:blip r:embed="rId3">
            <a:alphaModFix/>
          </a:blip>
          <a:stretch>
            <a:fillRect/>
          </a:stretch>
        </p:blipFill>
        <p:spPr>
          <a:xfrm>
            <a:off x="962975" y="1017725"/>
            <a:ext cx="7218059" cy="38209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23500" y="336450"/>
            <a:ext cx="3372000" cy="218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Lucida Sans"/>
                <a:ea typeface="Lucida Sans"/>
                <a:cs typeface="Lucida Sans"/>
                <a:sym typeface="Lucida Sans"/>
              </a:rPr>
              <a:t>Improved</a:t>
            </a:r>
            <a:endParaRPr>
              <a:latin typeface="Lucida Sans"/>
              <a:ea typeface="Lucida Sans"/>
              <a:cs typeface="Lucida Sans"/>
              <a:sym typeface="Lucida Sans"/>
            </a:endParaRPr>
          </a:p>
          <a:p>
            <a:pPr indent="0" lvl="0" marL="0" rtl="0" algn="l">
              <a:spcBef>
                <a:spcPts val="0"/>
              </a:spcBef>
              <a:spcAft>
                <a:spcPts val="0"/>
              </a:spcAft>
              <a:buNone/>
            </a:pPr>
            <a:r>
              <a:rPr lang="en">
                <a:latin typeface="Lucida Sans"/>
                <a:ea typeface="Lucida Sans"/>
                <a:cs typeface="Lucida Sans"/>
                <a:sym typeface="Lucida Sans"/>
              </a:rPr>
              <a:t>Metadata Structure</a:t>
            </a:r>
            <a:endParaRPr>
              <a:latin typeface="Lucida Sans"/>
              <a:ea typeface="Lucida Sans"/>
              <a:cs typeface="Lucida Sans"/>
              <a:sym typeface="Lucida Sans"/>
            </a:endParaRPr>
          </a:p>
          <a:p>
            <a:pPr indent="0" lvl="0" marL="0" rtl="0" algn="l">
              <a:spcBef>
                <a:spcPts val="0"/>
              </a:spcBef>
              <a:spcAft>
                <a:spcPts val="0"/>
              </a:spcAft>
              <a:buNone/>
            </a:pPr>
            <a:r>
              <a:rPr lang="en" sz="1750">
                <a:latin typeface="Lucida Sans"/>
                <a:ea typeface="Lucida Sans"/>
                <a:cs typeface="Lucida Sans"/>
                <a:sym typeface="Lucida Sans"/>
              </a:rPr>
              <a:t>(after parsing HTML text and converting to JSON array)</a:t>
            </a:r>
            <a:endParaRPr sz="1750">
              <a:latin typeface="Lucida Sans"/>
              <a:ea typeface="Lucida Sans"/>
              <a:cs typeface="Lucida Sans"/>
              <a:sym typeface="Lucida Sans"/>
            </a:endParaRPr>
          </a:p>
        </p:txBody>
      </p:sp>
      <p:pic>
        <p:nvPicPr>
          <p:cNvPr id="144" name="Google Shape;144;p25" title="example_json_array.png"/>
          <p:cNvPicPr preferRelativeResize="0"/>
          <p:nvPr/>
        </p:nvPicPr>
        <p:blipFill rotWithShape="1">
          <a:blip r:embed="rId3">
            <a:alphaModFix/>
          </a:blip>
          <a:srcRect b="31451" l="0" r="0" t="0"/>
          <a:stretch/>
        </p:blipFill>
        <p:spPr>
          <a:xfrm>
            <a:off x="4061650" y="272725"/>
            <a:ext cx="4642526" cy="4598051"/>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ucida Sans"/>
                <a:ea typeface="Lucida Sans"/>
                <a:cs typeface="Lucida Sans"/>
                <a:sym typeface="Lucida Sans"/>
              </a:rPr>
              <a:t>Metadata Elements</a:t>
            </a:r>
            <a:endParaRPr>
              <a:latin typeface="Lucida Sans"/>
              <a:ea typeface="Lucida Sans"/>
              <a:cs typeface="Lucida Sans"/>
              <a:sym typeface="Lucida Sans"/>
            </a:endParaRPr>
          </a:p>
        </p:txBody>
      </p:sp>
      <p:graphicFrame>
        <p:nvGraphicFramePr>
          <p:cNvPr id="150" name="Google Shape;150;p26"/>
          <p:cNvGraphicFramePr/>
          <p:nvPr/>
        </p:nvGraphicFramePr>
        <p:xfrm>
          <a:off x="311700" y="1111250"/>
          <a:ext cx="3000000" cy="3000000"/>
        </p:xfrm>
        <a:graphic>
          <a:graphicData uri="http://schemas.openxmlformats.org/drawingml/2006/table">
            <a:tbl>
              <a:tblPr>
                <a:noFill/>
                <a:tableStyleId>{998AA421-A19D-4160-A900-9235581FD412}</a:tableStyleId>
              </a:tblPr>
              <a:tblGrid>
                <a:gridCol w="1743925"/>
                <a:gridCol w="6682775"/>
              </a:tblGrid>
              <a:tr h="381000">
                <a:tc>
                  <a:txBody>
                    <a:bodyPr/>
                    <a:lstStyle/>
                    <a:p>
                      <a:pPr indent="0" lvl="0" marL="0" rtl="0" algn="r">
                        <a:spcBef>
                          <a:spcPts val="0"/>
                        </a:spcBef>
                        <a:spcAft>
                          <a:spcPts val="0"/>
                        </a:spcAft>
                        <a:buNone/>
                      </a:pPr>
                      <a:r>
                        <a:rPr lang="en">
                          <a:latin typeface="Lucida Sans"/>
                          <a:ea typeface="Lucida Sans"/>
                          <a:cs typeface="Lucida Sans"/>
                          <a:sym typeface="Lucida Sans"/>
                        </a:rPr>
                        <a:t>Ratings</a:t>
                      </a:r>
                      <a:endParaRPr>
                        <a:latin typeface="Lucida Sans"/>
                        <a:ea typeface="Lucida Sans"/>
                        <a:cs typeface="Lucida Sans"/>
                        <a:sym typeface="Lucida Sans"/>
                      </a:endParaRPr>
                    </a:p>
                    <a:p>
                      <a:pPr indent="0" lvl="0" marL="0" rtl="0" algn="r">
                        <a:spcBef>
                          <a:spcPts val="0"/>
                        </a:spcBef>
                        <a:spcAft>
                          <a:spcPts val="0"/>
                        </a:spcAft>
                        <a:buNone/>
                      </a:pPr>
                      <a:r>
                        <a:rPr lang="en">
                          <a:latin typeface="Lucida Sans"/>
                          <a:ea typeface="Lucida Sans"/>
                          <a:cs typeface="Lucida Sans"/>
                          <a:sym typeface="Lucida Sans"/>
                        </a:rPr>
                        <a:t>Archive Warnings</a:t>
                      </a:r>
                      <a:endParaRPr>
                        <a:latin typeface="Lucida Sans"/>
                        <a:ea typeface="Lucida Sans"/>
                        <a:cs typeface="Lucida Sans"/>
                        <a:sym typeface="Lucida Sans"/>
                      </a:endParaRPr>
                    </a:p>
                    <a:p>
                      <a:pPr indent="0" lvl="0" marL="0" rtl="0" algn="r">
                        <a:spcBef>
                          <a:spcPts val="0"/>
                        </a:spcBef>
                        <a:spcAft>
                          <a:spcPts val="0"/>
                        </a:spcAft>
                        <a:buNone/>
                      </a:pPr>
                      <a:r>
                        <a:t/>
                      </a:r>
                      <a:endParaRPr>
                        <a:latin typeface="Lucida Sans"/>
                        <a:ea typeface="Lucida Sans"/>
                        <a:cs typeface="Lucida Sans"/>
                        <a:sym typeface="Lucida Sans"/>
                      </a:endParaRPr>
                    </a:p>
                    <a:p>
                      <a:pPr indent="0" lvl="0" marL="0" rtl="0" algn="r">
                        <a:spcBef>
                          <a:spcPts val="0"/>
                        </a:spcBef>
                        <a:spcAft>
                          <a:spcPts val="0"/>
                        </a:spcAft>
                        <a:buNone/>
                      </a:pPr>
                      <a:r>
                        <a:rPr lang="en">
                          <a:latin typeface="Lucida Sans"/>
                          <a:ea typeface="Lucida Sans"/>
                          <a:cs typeface="Lucida Sans"/>
                          <a:sym typeface="Lucida Sans"/>
                        </a:rPr>
                        <a:t>Category</a:t>
                      </a:r>
                      <a:endParaRPr>
                        <a:latin typeface="Lucida Sans"/>
                        <a:ea typeface="Lucida Sans"/>
                        <a:cs typeface="Lucida Sans"/>
                        <a:sym typeface="Lucida Sans"/>
                      </a:endParaRPr>
                    </a:p>
                    <a:p>
                      <a:pPr indent="0" lvl="0" marL="0" rtl="0" algn="r">
                        <a:spcBef>
                          <a:spcPts val="0"/>
                        </a:spcBef>
                        <a:spcAft>
                          <a:spcPts val="0"/>
                        </a:spcAft>
                        <a:buNone/>
                      </a:pPr>
                      <a:r>
                        <a:rPr lang="en">
                          <a:latin typeface="Lucida Sans"/>
                          <a:ea typeface="Lucida Sans"/>
                          <a:cs typeface="Lucida Sans"/>
                          <a:sym typeface="Lucida Sans"/>
                        </a:rPr>
                        <a:t>Fandom</a:t>
                      </a:r>
                      <a:endParaRPr>
                        <a:latin typeface="Lucida Sans"/>
                        <a:ea typeface="Lucida Sans"/>
                        <a:cs typeface="Lucida Sans"/>
                        <a:sym typeface="Lucida Sans"/>
                      </a:endParaRPr>
                    </a:p>
                    <a:p>
                      <a:pPr indent="0" lvl="0" marL="0" rtl="0" algn="r">
                        <a:spcBef>
                          <a:spcPts val="0"/>
                        </a:spcBef>
                        <a:spcAft>
                          <a:spcPts val="0"/>
                        </a:spcAft>
                        <a:buNone/>
                      </a:pPr>
                      <a:r>
                        <a:rPr lang="en">
                          <a:latin typeface="Lucida Sans"/>
                          <a:ea typeface="Lucida Sans"/>
                          <a:cs typeface="Lucida Sans"/>
                          <a:sym typeface="Lucida Sans"/>
                        </a:rPr>
                        <a:t>Characters</a:t>
                      </a:r>
                      <a:endParaRPr>
                        <a:latin typeface="Lucida Sans"/>
                        <a:ea typeface="Lucida Sans"/>
                        <a:cs typeface="Lucida Sans"/>
                        <a:sym typeface="Lucida Sans"/>
                      </a:endParaRPr>
                    </a:p>
                    <a:p>
                      <a:pPr indent="0" lvl="0" marL="0" rtl="0" algn="r">
                        <a:spcBef>
                          <a:spcPts val="0"/>
                        </a:spcBef>
                        <a:spcAft>
                          <a:spcPts val="0"/>
                        </a:spcAft>
                        <a:buNone/>
                      </a:pPr>
                      <a:r>
                        <a:rPr lang="en">
                          <a:latin typeface="Lucida Sans"/>
                          <a:ea typeface="Lucida Sans"/>
                          <a:cs typeface="Lucida Sans"/>
                          <a:sym typeface="Lucida Sans"/>
                        </a:rPr>
                        <a:t>Relationships</a:t>
                      </a:r>
                      <a:endParaRPr>
                        <a:latin typeface="Lucida Sans"/>
                        <a:ea typeface="Lucida Sans"/>
                        <a:cs typeface="Lucida Sans"/>
                        <a:sym typeface="Lucida Sans"/>
                      </a:endParaRPr>
                    </a:p>
                    <a:p>
                      <a:pPr indent="0" lvl="0" marL="0" rtl="0" algn="r">
                        <a:spcBef>
                          <a:spcPts val="0"/>
                        </a:spcBef>
                        <a:spcAft>
                          <a:spcPts val="0"/>
                        </a:spcAft>
                        <a:buNone/>
                      </a:pPr>
                      <a:r>
                        <a:t/>
                      </a:r>
                      <a:endParaRPr>
                        <a:latin typeface="Lucida Sans"/>
                        <a:ea typeface="Lucida Sans"/>
                        <a:cs typeface="Lucida Sans"/>
                        <a:sym typeface="Lucida Sans"/>
                      </a:endParaRPr>
                    </a:p>
                    <a:p>
                      <a:pPr indent="0" lvl="0" marL="0" rtl="0" algn="r">
                        <a:spcBef>
                          <a:spcPts val="0"/>
                        </a:spcBef>
                        <a:spcAft>
                          <a:spcPts val="0"/>
                        </a:spcAft>
                        <a:buNone/>
                      </a:pPr>
                      <a:r>
                        <a:rPr lang="en">
                          <a:latin typeface="Lucida Sans"/>
                          <a:ea typeface="Lucida Sans"/>
                          <a:cs typeface="Lucida Sans"/>
                          <a:sym typeface="Lucida Sans"/>
                        </a:rPr>
                        <a:t>Additional Tags</a:t>
                      </a:r>
                      <a:endParaRPr>
                        <a:latin typeface="Lucida Sans"/>
                        <a:ea typeface="Lucida Sans"/>
                        <a:cs typeface="Lucida Sans"/>
                        <a:sym typeface="Lucida Sans"/>
                      </a:endParaRPr>
                    </a:p>
                    <a:p>
                      <a:pPr indent="0" lvl="0" marL="0" rtl="0" algn="r">
                        <a:spcBef>
                          <a:spcPts val="0"/>
                        </a:spcBef>
                        <a:spcAft>
                          <a:spcPts val="0"/>
                        </a:spcAft>
                        <a:buNone/>
                      </a:pPr>
                      <a:r>
                        <a:t/>
                      </a:r>
                      <a:endParaRPr>
                        <a:latin typeface="Lucida Sans"/>
                        <a:ea typeface="Lucida Sans"/>
                        <a:cs typeface="Lucida Sans"/>
                        <a:sym typeface="Lucida Sans"/>
                      </a:endParaRPr>
                    </a:p>
                    <a:p>
                      <a:pPr indent="0" lvl="0" marL="0" rtl="0" algn="r">
                        <a:spcBef>
                          <a:spcPts val="0"/>
                        </a:spcBef>
                        <a:spcAft>
                          <a:spcPts val="0"/>
                        </a:spcAft>
                        <a:buNone/>
                      </a:pPr>
                      <a:r>
                        <a:rPr lang="en">
                          <a:latin typeface="Lucida Sans"/>
                          <a:ea typeface="Lucida Sans"/>
                          <a:cs typeface="Lucida Sans"/>
                          <a:sym typeface="Lucida Sans"/>
                        </a:rPr>
                        <a:t>Is_Series</a:t>
                      </a:r>
                      <a:endParaRPr>
                        <a:latin typeface="Lucida Sans"/>
                        <a:ea typeface="Lucida Sans"/>
                        <a:cs typeface="Lucida Sans"/>
                        <a:sym typeface="Lucida Sans"/>
                      </a:endParaRPr>
                    </a:p>
                    <a:p>
                      <a:pPr indent="0" lvl="0" marL="0" rtl="0" algn="r">
                        <a:spcBef>
                          <a:spcPts val="0"/>
                        </a:spcBef>
                        <a:spcAft>
                          <a:spcPts val="0"/>
                        </a:spcAft>
                        <a:buNone/>
                      </a:pPr>
                      <a:r>
                        <a:rPr lang="en">
                          <a:latin typeface="Lucida Sans"/>
                          <a:ea typeface="Lucida Sans"/>
                          <a:cs typeface="Lucida Sans"/>
                          <a:sym typeface="Lucida Sans"/>
                        </a:rPr>
                        <a:t>Date Published</a:t>
                      </a:r>
                      <a:endParaRPr>
                        <a:latin typeface="Lucida Sans"/>
                        <a:ea typeface="Lucida Sans"/>
                        <a:cs typeface="Lucida Sans"/>
                        <a:sym typeface="Lucida Sans"/>
                      </a:endParaRPr>
                    </a:p>
                    <a:p>
                      <a:pPr indent="0" lvl="0" marL="0" rtl="0" algn="r">
                        <a:spcBef>
                          <a:spcPts val="0"/>
                        </a:spcBef>
                        <a:spcAft>
                          <a:spcPts val="0"/>
                        </a:spcAft>
                        <a:buNone/>
                      </a:pPr>
                      <a:r>
                        <a:rPr lang="en">
                          <a:latin typeface="Lucida Sans"/>
                          <a:ea typeface="Lucida Sans"/>
                          <a:cs typeface="Lucida Sans"/>
                          <a:sym typeface="Lucida Sans"/>
                        </a:rPr>
                        <a:t>Date Updated</a:t>
                      </a:r>
                      <a:endParaRPr>
                        <a:latin typeface="Lucida Sans"/>
                        <a:ea typeface="Lucida Sans"/>
                        <a:cs typeface="Lucida Sans"/>
                        <a:sym typeface="Lucida Sans"/>
                      </a:endParaRPr>
                    </a:p>
                    <a:p>
                      <a:pPr indent="0" lvl="0" marL="0" rtl="0" algn="r">
                        <a:spcBef>
                          <a:spcPts val="0"/>
                        </a:spcBef>
                        <a:spcAft>
                          <a:spcPts val="0"/>
                        </a:spcAft>
                        <a:buNone/>
                      </a:pPr>
                      <a:r>
                        <a:rPr lang="en">
                          <a:latin typeface="Lucida Sans"/>
                          <a:ea typeface="Lucida Sans"/>
                          <a:cs typeface="Lucida Sans"/>
                          <a:sym typeface="Lucida Sans"/>
                        </a:rPr>
                        <a:t>Word Count</a:t>
                      </a:r>
                      <a:endParaRPr>
                        <a:latin typeface="Lucida Sans"/>
                        <a:ea typeface="Lucida Sans"/>
                        <a:cs typeface="Lucida Sans"/>
                        <a:sym typeface="Lucida Sans"/>
                      </a:endParaRPr>
                    </a:p>
                    <a:p>
                      <a:pPr indent="0" lvl="0" marL="0" rtl="0" algn="r">
                        <a:spcBef>
                          <a:spcPts val="0"/>
                        </a:spcBef>
                        <a:spcAft>
                          <a:spcPts val="0"/>
                        </a:spcAft>
                        <a:buNone/>
                      </a:pPr>
                      <a:r>
                        <a:rPr lang="en">
                          <a:latin typeface="Lucida Sans"/>
                          <a:ea typeface="Lucida Sans"/>
                          <a:cs typeface="Lucida Sans"/>
                          <a:sym typeface="Lucida Sans"/>
                        </a:rPr>
                        <a:t>Chapter Count</a:t>
                      </a:r>
                      <a:endParaRPr>
                        <a:latin typeface="Lucida Sans"/>
                        <a:ea typeface="Lucida Sans"/>
                        <a:cs typeface="Lucida Sans"/>
                        <a:sym typeface="Lucida Sans"/>
                      </a:endParaRPr>
                    </a:p>
                    <a:p>
                      <a:pPr indent="0" lvl="0" marL="0" rtl="0" algn="r">
                        <a:spcBef>
                          <a:spcPts val="0"/>
                        </a:spcBef>
                        <a:spcAft>
                          <a:spcPts val="0"/>
                        </a:spcAft>
                        <a:buNone/>
                      </a:pPr>
                      <a:r>
                        <a:rPr lang="en">
                          <a:latin typeface="Lucida Sans"/>
                          <a:ea typeface="Lucida Sans"/>
                          <a:cs typeface="Lucida Sans"/>
                          <a:sym typeface="Lucida Sans"/>
                        </a:rPr>
                        <a:t>Comment Count</a:t>
                      </a:r>
                      <a:endParaRPr>
                        <a:latin typeface="Lucida Sans"/>
                        <a:ea typeface="Lucida Sans"/>
                        <a:cs typeface="Lucida Sans"/>
                        <a:sym typeface="Lucida Sans"/>
                      </a:endParaRPr>
                    </a:p>
                    <a:p>
                      <a:pPr indent="0" lvl="0" marL="0" rtl="0" algn="r">
                        <a:spcBef>
                          <a:spcPts val="0"/>
                        </a:spcBef>
                        <a:spcAft>
                          <a:spcPts val="0"/>
                        </a:spcAft>
                        <a:buNone/>
                      </a:pPr>
                      <a:r>
                        <a:rPr lang="en">
                          <a:latin typeface="Lucida Sans"/>
                          <a:ea typeface="Lucida Sans"/>
                          <a:cs typeface="Lucida Sans"/>
                          <a:sym typeface="Lucida Sans"/>
                        </a:rPr>
                        <a:t>Kudos Count</a:t>
                      </a:r>
                      <a:endParaRPr>
                        <a:latin typeface="Lucida Sans"/>
                        <a:ea typeface="Lucida Sans"/>
                        <a:cs typeface="Lucida Sans"/>
                        <a:sym typeface="Lucida Sans"/>
                      </a:endParaRPr>
                    </a:p>
                  </a:txBody>
                  <a:tcPr marT="91425" marB="91425" marR="91425" marL="91425"/>
                </a:tc>
                <a:tc>
                  <a:txBody>
                    <a:bodyPr/>
                    <a:lstStyle/>
                    <a:p>
                      <a:pPr indent="-317500" lvl="0" marL="457200" rtl="0" algn="l">
                        <a:spcBef>
                          <a:spcPts val="0"/>
                        </a:spcBef>
                        <a:spcAft>
                          <a:spcPts val="0"/>
                        </a:spcAft>
                        <a:buSzPts val="1400"/>
                        <a:buFont typeface="Lucida Sans"/>
                        <a:buChar char="➔"/>
                      </a:pPr>
                      <a:r>
                        <a:rPr lang="en">
                          <a:latin typeface="Lucida Sans"/>
                          <a:ea typeface="Lucida Sans"/>
                          <a:cs typeface="Lucida Sans"/>
                          <a:sym typeface="Lucida Sans"/>
                        </a:rPr>
                        <a:t>Content ratings from Ao3 controlled list (e.g. “Teen” or “Mature”)</a:t>
                      </a:r>
                      <a:endParaRPr>
                        <a:latin typeface="Lucida Sans"/>
                        <a:ea typeface="Lucida Sans"/>
                        <a:cs typeface="Lucida Sans"/>
                        <a:sym typeface="Lucida Sans"/>
                      </a:endParaRPr>
                    </a:p>
                    <a:p>
                      <a:pPr indent="-317500" lvl="0" marL="457200" rtl="0" algn="l">
                        <a:spcBef>
                          <a:spcPts val="0"/>
                        </a:spcBef>
                        <a:spcAft>
                          <a:spcPts val="0"/>
                        </a:spcAft>
                        <a:buSzPts val="1400"/>
                        <a:buFont typeface="Lucida Sans"/>
                        <a:buChar char="➔"/>
                      </a:pPr>
                      <a:r>
                        <a:rPr lang="en">
                          <a:latin typeface="Lucida Sans"/>
                          <a:ea typeface="Lucida Sans"/>
                          <a:cs typeface="Lucida Sans"/>
                          <a:sym typeface="Lucida Sans"/>
                        </a:rPr>
                        <a:t>Sensitive content warnings from Ao3 controlled list (e.g. “Major Character Death”</a:t>
                      </a:r>
                      <a:endParaRPr>
                        <a:latin typeface="Lucida Sans"/>
                        <a:ea typeface="Lucida Sans"/>
                        <a:cs typeface="Lucida Sans"/>
                        <a:sym typeface="Lucida Sans"/>
                      </a:endParaRPr>
                    </a:p>
                    <a:p>
                      <a:pPr indent="-317500" lvl="0" marL="457200" rtl="0" algn="l">
                        <a:spcBef>
                          <a:spcPts val="0"/>
                        </a:spcBef>
                        <a:spcAft>
                          <a:spcPts val="0"/>
                        </a:spcAft>
                        <a:buSzPts val="1400"/>
                        <a:buFont typeface="Lucida Sans"/>
                        <a:buChar char="➔"/>
                      </a:pPr>
                      <a:r>
                        <a:rPr lang="en">
                          <a:latin typeface="Lucida Sans"/>
                          <a:ea typeface="Lucida Sans"/>
                          <a:cs typeface="Lucida Sans"/>
                          <a:sym typeface="Lucida Sans"/>
                        </a:rPr>
                        <a:t>Indicates gender dynamic of main relationship depicted (e.g. F/F)</a:t>
                      </a:r>
                      <a:endParaRPr>
                        <a:latin typeface="Lucida Sans"/>
                        <a:ea typeface="Lucida Sans"/>
                        <a:cs typeface="Lucida Sans"/>
                        <a:sym typeface="Lucida Sans"/>
                      </a:endParaRPr>
                    </a:p>
                    <a:p>
                      <a:pPr indent="-317500" lvl="0" marL="457200" rtl="0" algn="l">
                        <a:spcBef>
                          <a:spcPts val="0"/>
                        </a:spcBef>
                        <a:spcAft>
                          <a:spcPts val="0"/>
                        </a:spcAft>
                        <a:buSzPts val="1400"/>
                        <a:buFont typeface="Lucida Sans"/>
                        <a:buChar char="➔"/>
                      </a:pPr>
                      <a:r>
                        <a:rPr lang="en">
                          <a:latin typeface="Lucida Sans"/>
                          <a:ea typeface="Lucida Sans"/>
                          <a:cs typeface="Lucida Sans"/>
                          <a:sym typeface="Lucida Sans"/>
                        </a:rPr>
                        <a:t>Indicates source material intellectual property (e.g. “Star Wars”)</a:t>
                      </a:r>
                      <a:endParaRPr>
                        <a:latin typeface="Lucida Sans"/>
                        <a:ea typeface="Lucida Sans"/>
                        <a:cs typeface="Lucida Sans"/>
                        <a:sym typeface="Lucida Sans"/>
                      </a:endParaRPr>
                    </a:p>
                    <a:p>
                      <a:pPr indent="-317500" lvl="0" marL="457200" rtl="0" algn="l">
                        <a:spcBef>
                          <a:spcPts val="0"/>
                        </a:spcBef>
                        <a:spcAft>
                          <a:spcPts val="0"/>
                        </a:spcAft>
                        <a:buSzPts val="1400"/>
                        <a:buFont typeface="Lucida Sans"/>
                        <a:buChar char="➔"/>
                      </a:pPr>
                      <a:r>
                        <a:rPr lang="en">
                          <a:latin typeface="Lucida Sans"/>
                          <a:ea typeface="Lucida Sans"/>
                          <a:cs typeface="Lucida Sans"/>
                          <a:sym typeface="Lucida Sans"/>
                        </a:rPr>
                        <a:t>Which </a:t>
                      </a:r>
                      <a:r>
                        <a:rPr lang="en">
                          <a:latin typeface="Lucida Sans"/>
                          <a:ea typeface="Lucida Sans"/>
                          <a:cs typeface="Lucida Sans"/>
                          <a:sym typeface="Lucida Sans"/>
                        </a:rPr>
                        <a:t>characters</a:t>
                      </a:r>
                      <a:r>
                        <a:rPr lang="en">
                          <a:latin typeface="Lucida Sans"/>
                          <a:ea typeface="Lucida Sans"/>
                          <a:cs typeface="Lucida Sans"/>
                          <a:sym typeface="Lucida Sans"/>
                        </a:rPr>
                        <a:t> are depicted in the fanwork (e.g. “Jabba the Hutt”)</a:t>
                      </a:r>
                      <a:endParaRPr>
                        <a:latin typeface="Lucida Sans"/>
                        <a:ea typeface="Lucida Sans"/>
                        <a:cs typeface="Lucida Sans"/>
                        <a:sym typeface="Lucida Sans"/>
                      </a:endParaRPr>
                    </a:p>
                    <a:p>
                      <a:pPr indent="-317500" lvl="0" marL="457200" rtl="0" algn="l">
                        <a:spcBef>
                          <a:spcPts val="0"/>
                        </a:spcBef>
                        <a:spcAft>
                          <a:spcPts val="0"/>
                        </a:spcAft>
                        <a:buSzPts val="1400"/>
                        <a:buFont typeface="Lucida Sans"/>
                        <a:buChar char="➔"/>
                      </a:pPr>
                      <a:r>
                        <a:rPr lang="en">
                          <a:latin typeface="Lucida Sans"/>
                          <a:ea typeface="Lucida Sans"/>
                          <a:cs typeface="Lucida Sans"/>
                          <a:sym typeface="Lucida Sans"/>
                        </a:rPr>
                        <a:t>Which character relationships are depicted in the fanwork (e.g. “Sherlock Holmes / John Watson,” Happy Pride)</a:t>
                      </a:r>
                      <a:endParaRPr>
                        <a:latin typeface="Lucida Sans"/>
                        <a:ea typeface="Lucida Sans"/>
                        <a:cs typeface="Lucida Sans"/>
                        <a:sym typeface="Lucida Sans"/>
                      </a:endParaRPr>
                    </a:p>
                    <a:p>
                      <a:pPr indent="-317500" lvl="0" marL="457200" rtl="0" algn="l">
                        <a:spcBef>
                          <a:spcPts val="0"/>
                        </a:spcBef>
                        <a:spcAft>
                          <a:spcPts val="0"/>
                        </a:spcAft>
                        <a:buSzPts val="1400"/>
                        <a:buFont typeface="Lucida Sans"/>
                        <a:buChar char="➔"/>
                      </a:pPr>
                      <a:r>
                        <a:rPr lang="en">
                          <a:latin typeface="Lucida Sans"/>
                          <a:ea typeface="Lucida Sans"/>
                          <a:cs typeface="Lucida Sans"/>
                          <a:sym typeface="Lucida Sans"/>
                        </a:rPr>
                        <a:t>Freeform tags - might indicate specific content or tropes (e.g. “Friends to Lovers”) or author commentary (“No beta we die like men”)</a:t>
                      </a:r>
                      <a:endParaRPr>
                        <a:latin typeface="Lucida Sans"/>
                        <a:ea typeface="Lucida Sans"/>
                        <a:cs typeface="Lucida Sans"/>
                        <a:sym typeface="Lucida Sans"/>
                      </a:endParaRPr>
                    </a:p>
                    <a:p>
                      <a:pPr indent="-317500" lvl="0" marL="457200" rtl="0" algn="l">
                        <a:spcBef>
                          <a:spcPts val="0"/>
                        </a:spcBef>
                        <a:spcAft>
                          <a:spcPts val="0"/>
                        </a:spcAft>
                        <a:buSzPts val="1400"/>
                        <a:buFont typeface="Lucida Sans"/>
                        <a:buChar char="➔"/>
                      </a:pPr>
                      <a:r>
                        <a:rPr lang="en">
                          <a:latin typeface="Lucida Sans"/>
                          <a:ea typeface="Lucida Sans"/>
                          <a:cs typeface="Lucida Sans"/>
                          <a:sym typeface="Lucida Sans"/>
                        </a:rPr>
                        <a:t>Indicates whether the fanwork is part of a series of fanworks</a:t>
                      </a:r>
                      <a:endParaRPr>
                        <a:latin typeface="Lucida Sans"/>
                        <a:ea typeface="Lucida Sans"/>
                        <a:cs typeface="Lucida Sans"/>
                        <a:sym typeface="Lucida Sans"/>
                      </a:endParaRPr>
                    </a:p>
                    <a:p>
                      <a:pPr indent="-317500" lvl="0" marL="457200" rtl="0" algn="l">
                        <a:spcBef>
                          <a:spcPts val="0"/>
                        </a:spcBef>
                        <a:spcAft>
                          <a:spcPts val="0"/>
                        </a:spcAft>
                        <a:buSzPts val="1400"/>
                        <a:buFont typeface="Lucida Sans"/>
                        <a:buChar char="➔"/>
                      </a:pPr>
                      <a:r>
                        <a:rPr lang="en">
                          <a:latin typeface="Lucida Sans"/>
                          <a:ea typeface="Lucida Sans"/>
                          <a:cs typeface="Lucida Sans"/>
                          <a:sym typeface="Lucida Sans"/>
                        </a:rPr>
                        <a:t>Original date published</a:t>
                      </a:r>
                      <a:endParaRPr>
                        <a:latin typeface="Lucida Sans"/>
                        <a:ea typeface="Lucida Sans"/>
                        <a:cs typeface="Lucida Sans"/>
                        <a:sym typeface="Lucida Sans"/>
                      </a:endParaRPr>
                    </a:p>
                    <a:p>
                      <a:pPr indent="-317500" lvl="0" marL="457200" rtl="0" algn="l">
                        <a:spcBef>
                          <a:spcPts val="0"/>
                        </a:spcBef>
                        <a:spcAft>
                          <a:spcPts val="0"/>
                        </a:spcAft>
                        <a:buSzPts val="1400"/>
                        <a:buFont typeface="Lucida Sans"/>
                        <a:buChar char="➔"/>
                      </a:pPr>
                      <a:r>
                        <a:rPr lang="en">
                          <a:latin typeface="Lucida Sans"/>
                          <a:ea typeface="Lucida Sans"/>
                          <a:cs typeface="Lucida Sans"/>
                          <a:sym typeface="Lucida Sans"/>
                        </a:rPr>
                        <a:t>Date updated (if multichapter, or if the author has made further edits)</a:t>
                      </a:r>
                      <a:endParaRPr>
                        <a:latin typeface="Lucida Sans"/>
                        <a:ea typeface="Lucida Sans"/>
                        <a:cs typeface="Lucida Sans"/>
                        <a:sym typeface="Lucida Sans"/>
                      </a:endParaRPr>
                    </a:p>
                    <a:p>
                      <a:pPr indent="-317500" lvl="0" marL="457200" rtl="0" algn="l">
                        <a:spcBef>
                          <a:spcPts val="0"/>
                        </a:spcBef>
                        <a:spcAft>
                          <a:spcPts val="0"/>
                        </a:spcAft>
                        <a:buSzPts val="1400"/>
                        <a:buFont typeface="Lucida Sans"/>
                        <a:buChar char="➔"/>
                      </a:pPr>
                      <a:r>
                        <a:rPr lang="en">
                          <a:latin typeface="Lucida Sans"/>
                          <a:ea typeface="Lucida Sans"/>
                          <a:cs typeface="Lucida Sans"/>
                          <a:sym typeface="Lucida Sans"/>
                        </a:rPr>
                        <a:t>Self-explanatory; most relevant for written works</a:t>
                      </a:r>
                      <a:endParaRPr>
                        <a:latin typeface="Lucida Sans"/>
                        <a:ea typeface="Lucida Sans"/>
                        <a:cs typeface="Lucida Sans"/>
                        <a:sym typeface="Lucida Sans"/>
                      </a:endParaRPr>
                    </a:p>
                    <a:p>
                      <a:pPr indent="-317500" lvl="0" marL="457200" rtl="0" algn="l">
                        <a:spcBef>
                          <a:spcPts val="0"/>
                        </a:spcBef>
                        <a:spcAft>
                          <a:spcPts val="0"/>
                        </a:spcAft>
                        <a:buSzPts val="1400"/>
                        <a:buFont typeface="Lucida Sans"/>
                        <a:buChar char="➔"/>
                      </a:pPr>
                      <a:r>
                        <a:rPr lang="en">
                          <a:latin typeface="Lucida Sans"/>
                          <a:ea typeface="Lucida Sans"/>
                          <a:cs typeface="Lucida Sans"/>
                          <a:sym typeface="Lucida Sans"/>
                        </a:rPr>
                        <a:t># published chapters vs. # planned chapters (indicates completeness)</a:t>
                      </a:r>
                      <a:endParaRPr>
                        <a:latin typeface="Lucida Sans"/>
                        <a:ea typeface="Lucida Sans"/>
                        <a:cs typeface="Lucida Sans"/>
                        <a:sym typeface="Lucida Sans"/>
                      </a:endParaRPr>
                    </a:p>
                    <a:p>
                      <a:pPr indent="-317500" lvl="0" marL="457200" rtl="0" algn="l">
                        <a:spcBef>
                          <a:spcPts val="0"/>
                        </a:spcBef>
                        <a:spcAft>
                          <a:spcPts val="0"/>
                        </a:spcAft>
                        <a:buSzPts val="1400"/>
                        <a:buFont typeface="Lucida Sans"/>
                        <a:buChar char="➔"/>
                      </a:pPr>
                      <a:r>
                        <a:rPr lang="en">
                          <a:latin typeface="Lucida Sans"/>
                          <a:ea typeface="Lucida Sans"/>
                          <a:cs typeface="Lucida Sans"/>
                          <a:sym typeface="Lucida Sans"/>
                        </a:rPr>
                        <a:t>Number of reader comments on fanworks; indicates engagement</a:t>
                      </a:r>
                      <a:endParaRPr>
                        <a:latin typeface="Lucida Sans"/>
                        <a:ea typeface="Lucida Sans"/>
                        <a:cs typeface="Lucida Sans"/>
                        <a:sym typeface="Lucida Sans"/>
                      </a:endParaRPr>
                    </a:p>
                    <a:p>
                      <a:pPr indent="-317500" lvl="0" marL="457200" rtl="0" algn="l">
                        <a:spcBef>
                          <a:spcPts val="0"/>
                        </a:spcBef>
                        <a:spcAft>
                          <a:spcPts val="0"/>
                        </a:spcAft>
                        <a:buSzPts val="1400"/>
                        <a:buFont typeface="Lucida Sans"/>
                        <a:buChar char="➔"/>
                      </a:pPr>
                      <a:r>
                        <a:rPr lang="en">
                          <a:latin typeface="Lucida Sans"/>
                          <a:ea typeface="Lucida Sans"/>
                          <a:cs typeface="Lucida Sans"/>
                          <a:sym typeface="Lucida Sans"/>
                        </a:rPr>
                        <a:t>(Essentially) number of “likes” on fanworks; indicates engagement</a:t>
                      </a:r>
                      <a:endParaRPr>
                        <a:latin typeface="Lucida Sans"/>
                        <a:ea typeface="Lucida Sans"/>
                        <a:cs typeface="Lucida Sans"/>
                        <a:sym typeface="Lucida Sans"/>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ucida Sans"/>
                <a:ea typeface="Lucida Sans"/>
                <a:cs typeface="Lucida Sans"/>
                <a:sym typeface="Lucida Sans"/>
              </a:rPr>
              <a:t>Quality Assessment Methods for Ao3MM</a:t>
            </a:r>
            <a:endParaRPr>
              <a:latin typeface="Lucida Sans"/>
              <a:ea typeface="Lucida Sans"/>
              <a:cs typeface="Lucida Sans"/>
              <a:sym typeface="Lucida Sans"/>
            </a:endParaRPr>
          </a:p>
        </p:txBody>
      </p:sp>
      <p:sp>
        <p:nvSpPr>
          <p:cNvPr id="156" name="Google Shape;156;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2A2A2A"/>
              </a:buClr>
              <a:buSzPts val="1800"/>
              <a:buFont typeface="Lucida Sans"/>
              <a:buChar char="●"/>
            </a:pPr>
            <a:r>
              <a:rPr lang="en">
                <a:solidFill>
                  <a:srgbClr val="2A2A2A"/>
                </a:solidFill>
                <a:latin typeface="Lucida Sans"/>
                <a:ea typeface="Lucida Sans"/>
                <a:cs typeface="Lucida Sans"/>
                <a:sym typeface="Lucida Sans"/>
              </a:rPr>
              <a:t>In progress / still working out some of the kinks in the code</a:t>
            </a:r>
            <a:endParaRPr>
              <a:solidFill>
                <a:srgbClr val="2A2A2A"/>
              </a:solidFill>
              <a:latin typeface="Lucida Sans"/>
              <a:ea typeface="Lucida Sans"/>
              <a:cs typeface="Lucida Sans"/>
              <a:sym typeface="Lucida Sans"/>
            </a:endParaRPr>
          </a:p>
          <a:p>
            <a:pPr indent="-342900" lvl="0" marL="457200" rtl="0" algn="l">
              <a:spcBef>
                <a:spcPts val="1000"/>
              </a:spcBef>
              <a:spcAft>
                <a:spcPts val="0"/>
              </a:spcAft>
              <a:buClr>
                <a:srgbClr val="2A2A2A"/>
              </a:buClr>
              <a:buSzPts val="1800"/>
              <a:buFont typeface="Lucida Sans"/>
              <a:buChar char="●"/>
            </a:pPr>
            <a:r>
              <a:rPr lang="en">
                <a:solidFill>
                  <a:srgbClr val="2A2A2A"/>
                </a:solidFill>
                <a:latin typeface="Lucida Sans"/>
                <a:ea typeface="Lucida Sans"/>
                <a:cs typeface="Lucida Sans"/>
                <a:sym typeface="Lucida Sans"/>
              </a:rPr>
              <a:t>Can reliably:</a:t>
            </a:r>
            <a:endParaRPr>
              <a:solidFill>
                <a:srgbClr val="2A2A2A"/>
              </a:solidFill>
              <a:latin typeface="Lucida Sans"/>
              <a:ea typeface="Lucida Sans"/>
              <a:cs typeface="Lucida Sans"/>
              <a:sym typeface="Lucida Sans"/>
            </a:endParaRPr>
          </a:p>
          <a:p>
            <a:pPr indent="-317500" lvl="1" marL="914400" rtl="0" algn="l">
              <a:spcBef>
                <a:spcPts val="1000"/>
              </a:spcBef>
              <a:spcAft>
                <a:spcPts val="0"/>
              </a:spcAft>
              <a:buClr>
                <a:srgbClr val="2A2A2A"/>
              </a:buClr>
              <a:buSzPts val="1400"/>
              <a:buFont typeface="Lucida Sans"/>
              <a:buChar char="○"/>
            </a:pPr>
            <a:r>
              <a:rPr lang="en">
                <a:solidFill>
                  <a:srgbClr val="2A2A2A"/>
                </a:solidFill>
                <a:latin typeface="Lucida Sans"/>
                <a:ea typeface="Lucida Sans"/>
                <a:cs typeface="Lucida Sans"/>
                <a:sym typeface="Lucida Sans"/>
              </a:rPr>
              <a:t>Ingest an individual fanwork link, parse &amp; extract </a:t>
            </a:r>
            <a:r>
              <a:rPr lang="en">
                <a:solidFill>
                  <a:srgbClr val="2A2A2A"/>
                </a:solidFill>
                <a:latin typeface="Lucida Sans"/>
                <a:ea typeface="Lucida Sans"/>
                <a:cs typeface="Lucida Sans"/>
                <a:sym typeface="Lucida Sans"/>
              </a:rPr>
              <a:t>metadata elements, and convert them to the JSON structure shown</a:t>
            </a:r>
            <a:endParaRPr>
              <a:solidFill>
                <a:srgbClr val="2A2A2A"/>
              </a:solidFill>
              <a:latin typeface="Lucida Sans"/>
              <a:ea typeface="Lucida Sans"/>
              <a:cs typeface="Lucida Sans"/>
              <a:sym typeface="Lucida Sans"/>
            </a:endParaRPr>
          </a:p>
          <a:p>
            <a:pPr indent="-317500" lvl="1" marL="914400" rtl="0" algn="l">
              <a:spcBef>
                <a:spcPts val="1000"/>
              </a:spcBef>
              <a:spcAft>
                <a:spcPts val="0"/>
              </a:spcAft>
              <a:buClr>
                <a:srgbClr val="2A2A2A"/>
              </a:buClr>
              <a:buSzPts val="1400"/>
              <a:buFont typeface="Lucida Sans"/>
              <a:buChar char="○"/>
            </a:pPr>
            <a:r>
              <a:rPr lang="en">
                <a:solidFill>
                  <a:srgbClr val="2A2A2A"/>
                </a:solidFill>
                <a:latin typeface="Lucida Sans"/>
                <a:ea typeface="Lucida Sans"/>
                <a:cs typeface="Lucida Sans"/>
                <a:sym typeface="Lucida Sans"/>
              </a:rPr>
              <a:t>Do the same with lists of fanwork links in small batches (e.g. one set of 20 fanwork links from an individual pagination link), then merge the separate JSON links into a single JSON array</a:t>
            </a:r>
            <a:endParaRPr>
              <a:solidFill>
                <a:srgbClr val="2A2A2A"/>
              </a:solidFill>
              <a:latin typeface="Lucida Sans"/>
              <a:ea typeface="Lucida Sans"/>
              <a:cs typeface="Lucida Sans"/>
              <a:sym typeface="Lucida Sans"/>
            </a:endParaRPr>
          </a:p>
          <a:p>
            <a:pPr indent="-342900" lvl="0" marL="457200" rtl="0" algn="l">
              <a:spcBef>
                <a:spcPts val="1000"/>
              </a:spcBef>
              <a:spcAft>
                <a:spcPts val="0"/>
              </a:spcAft>
              <a:buClr>
                <a:srgbClr val="2A2A2A"/>
              </a:buClr>
              <a:buSzPts val="1800"/>
              <a:buFont typeface="Lucida Sans"/>
              <a:buChar char="●"/>
            </a:pPr>
            <a:r>
              <a:rPr lang="en">
                <a:solidFill>
                  <a:srgbClr val="2A2A2A"/>
                </a:solidFill>
                <a:latin typeface="Lucida Sans"/>
                <a:ea typeface="Lucida Sans"/>
                <a:cs typeface="Lucida Sans"/>
                <a:sym typeface="Lucida Sans"/>
              </a:rPr>
              <a:t>Struggles to:</a:t>
            </a:r>
            <a:endParaRPr>
              <a:solidFill>
                <a:srgbClr val="2A2A2A"/>
              </a:solidFill>
              <a:latin typeface="Lucida Sans"/>
              <a:ea typeface="Lucida Sans"/>
              <a:cs typeface="Lucida Sans"/>
              <a:sym typeface="Lucida Sans"/>
            </a:endParaRPr>
          </a:p>
          <a:p>
            <a:pPr indent="-317500" lvl="1" marL="914400" rtl="0" algn="l">
              <a:spcBef>
                <a:spcPts val="1000"/>
              </a:spcBef>
              <a:spcAft>
                <a:spcPts val="1000"/>
              </a:spcAft>
              <a:buClr>
                <a:srgbClr val="2A2A2A"/>
              </a:buClr>
              <a:buSzPts val="1400"/>
              <a:buFont typeface="Lucida Sans"/>
              <a:buChar char="○"/>
            </a:pPr>
            <a:r>
              <a:rPr lang="en">
                <a:solidFill>
                  <a:srgbClr val="2A2A2A"/>
                </a:solidFill>
                <a:latin typeface="Lucida Sans"/>
                <a:ea typeface="Lucida Sans"/>
                <a:cs typeface="Lucida Sans"/>
                <a:sym typeface="Lucida Sans"/>
              </a:rPr>
              <a:t>Digest and process a large batch of fanwork links without missing data</a:t>
            </a:r>
            <a:endParaRPr>
              <a:solidFill>
                <a:srgbClr val="2A2A2A"/>
              </a:solidFill>
              <a:latin typeface="Lucida Sans"/>
              <a:ea typeface="Lucida Sans"/>
              <a:cs typeface="Lucida Sans"/>
              <a:sym typeface="Lucid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ucida Sans"/>
                <a:ea typeface="Lucida Sans"/>
                <a:cs typeface="Lucida Sans"/>
                <a:sym typeface="Lucida Sans"/>
              </a:rPr>
              <a:t>Functional Testing</a:t>
            </a:r>
            <a:endParaRPr>
              <a:latin typeface="Lucida Sans"/>
              <a:ea typeface="Lucida Sans"/>
              <a:cs typeface="Lucida Sans"/>
              <a:sym typeface="Lucida Sans"/>
            </a:endParaRPr>
          </a:p>
        </p:txBody>
      </p:sp>
      <p:graphicFrame>
        <p:nvGraphicFramePr>
          <p:cNvPr id="162" name="Google Shape;162;p28"/>
          <p:cNvGraphicFramePr/>
          <p:nvPr/>
        </p:nvGraphicFramePr>
        <p:xfrm>
          <a:off x="279525" y="1116650"/>
          <a:ext cx="3000000" cy="3000000"/>
        </p:xfrm>
        <a:graphic>
          <a:graphicData uri="http://schemas.openxmlformats.org/drawingml/2006/table">
            <a:tbl>
              <a:tblPr>
                <a:noFill/>
                <a:tableStyleId>{934946C0-DBB0-4B04-873C-E7F67DD0CE75}</a:tableStyleId>
              </a:tblPr>
              <a:tblGrid>
                <a:gridCol w="1304425"/>
                <a:gridCol w="3593225"/>
                <a:gridCol w="3687300"/>
              </a:tblGrid>
              <a:tr h="12700">
                <a:tc>
                  <a:txBody>
                    <a:bodyPr/>
                    <a:lstStyle/>
                    <a:p>
                      <a:pPr indent="0" lvl="0" marL="0" rtl="0" algn="ctr">
                        <a:spcBef>
                          <a:spcPts val="0"/>
                        </a:spcBef>
                        <a:spcAft>
                          <a:spcPts val="0"/>
                        </a:spcAft>
                        <a:buNone/>
                      </a:pPr>
                      <a:r>
                        <a:rPr b="1" lang="en" sz="1300">
                          <a:latin typeface="Lucida Sans"/>
                          <a:ea typeface="Lucida Sans"/>
                          <a:cs typeface="Lucida Sans"/>
                          <a:sym typeface="Lucida Sans"/>
                        </a:rPr>
                        <a:t>Test Case</a:t>
                      </a:r>
                      <a:endParaRPr b="1" sz="1300">
                        <a:latin typeface="Lucida Sans"/>
                        <a:ea typeface="Lucida Sans"/>
                        <a:cs typeface="Lucida Sans"/>
                        <a:sym typeface="Lucida Sans"/>
                      </a:endParaRPr>
                    </a:p>
                  </a:txBody>
                  <a:tcPr marT="63500" marB="63500" marR="63500" marL="63500"/>
                </a:tc>
                <a:tc>
                  <a:txBody>
                    <a:bodyPr/>
                    <a:lstStyle/>
                    <a:p>
                      <a:pPr indent="0" lvl="0" marL="0" rtl="0" algn="ctr">
                        <a:spcBef>
                          <a:spcPts val="0"/>
                        </a:spcBef>
                        <a:spcAft>
                          <a:spcPts val="0"/>
                        </a:spcAft>
                        <a:buNone/>
                      </a:pPr>
                      <a:r>
                        <a:rPr b="1" lang="en" sz="1300">
                          <a:latin typeface="Lucida Sans"/>
                          <a:ea typeface="Lucida Sans"/>
                          <a:cs typeface="Lucida Sans"/>
                          <a:sym typeface="Lucida Sans"/>
                        </a:rPr>
                        <a:t>Description / Method</a:t>
                      </a:r>
                      <a:endParaRPr b="1" sz="1300">
                        <a:latin typeface="Lucida Sans"/>
                        <a:ea typeface="Lucida Sans"/>
                        <a:cs typeface="Lucida Sans"/>
                        <a:sym typeface="Lucida Sans"/>
                      </a:endParaRPr>
                    </a:p>
                  </a:txBody>
                  <a:tcPr marT="63500" marB="63500" marR="63500" marL="63500"/>
                </a:tc>
                <a:tc>
                  <a:txBody>
                    <a:bodyPr/>
                    <a:lstStyle/>
                    <a:p>
                      <a:pPr indent="0" lvl="0" marL="0" rtl="0" algn="ctr">
                        <a:spcBef>
                          <a:spcPts val="0"/>
                        </a:spcBef>
                        <a:spcAft>
                          <a:spcPts val="0"/>
                        </a:spcAft>
                        <a:buNone/>
                      </a:pPr>
                      <a:r>
                        <a:rPr b="1" lang="en" sz="1300">
                          <a:latin typeface="Lucida Sans"/>
                          <a:ea typeface="Lucida Sans"/>
                          <a:cs typeface="Lucida Sans"/>
                          <a:sym typeface="Lucida Sans"/>
                        </a:rPr>
                        <a:t>Expected Result</a:t>
                      </a:r>
                      <a:endParaRPr b="1" sz="1300">
                        <a:latin typeface="Lucida Sans"/>
                        <a:ea typeface="Lucida Sans"/>
                        <a:cs typeface="Lucida Sans"/>
                        <a:sym typeface="Lucida Sans"/>
                      </a:endParaRPr>
                    </a:p>
                  </a:txBody>
                  <a:tcPr marT="63500" marB="63500" marR="63500" marL="63500"/>
                </a:tc>
              </a:tr>
              <a:tr h="12700">
                <a:tc>
                  <a:txBody>
                    <a:bodyPr/>
                    <a:lstStyle/>
                    <a:p>
                      <a:pPr indent="0" lvl="0" marL="0" rtl="0" algn="l">
                        <a:spcBef>
                          <a:spcPts val="0"/>
                        </a:spcBef>
                        <a:spcAft>
                          <a:spcPts val="0"/>
                        </a:spcAft>
                        <a:buNone/>
                      </a:pPr>
                      <a:r>
                        <a:rPr lang="en" sz="1300">
                          <a:latin typeface="Lucida Sans"/>
                          <a:ea typeface="Lucida Sans"/>
                          <a:cs typeface="Lucida Sans"/>
                          <a:sym typeface="Lucida Sans"/>
                        </a:rPr>
                        <a:t>Single fanwork</a:t>
                      </a:r>
                      <a:endParaRPr sz="1300">
                        <a:latin typeface="Lucida Sans"/>
                        <a:ea typeface="Lucida Sans"/>
                        <a:cs typeface="Lucida Sans"/>
                        <a:sym typeface="Lucida Sans"/>
                      </a:endParaRPr>
                    </a:p>
                  </a:txBody>
                  <a:tcPr marT="63500" marB="63500" marR="63500" marL="63500"/>
                </a:tc>
                <a:tc>
                  <a:txBody>
                    <a:bodyPr/>
                    <a:lstStyle/>
                    <a:p>
                      <a:pPr indent="0" lvl="0" marL="0" rtl="0" algn="l">
                        <a:spcBef>
                          <a:spcPts val="0"/>
                        </a:spcBef>
                        <a:spcAft>
                          <a:spcPts val="0"/>
                        </a:spcAft>
                        <a:buNone/>
                      </a:pPr>
                      <a:r>
                        <a:rPr lang="en" sz="1300">
                          <a:latin typeface="Lucida Sans"/>
                          <a:ea typeface="Lucida Sans"/>
                          <a:cs typeface="Lucida Sans"/>
                          <a:sym typeface="Lucida Sans"/>
                        </a:rPr>
                        <a:t>I</a:t>
                      </a:r>
                      <a:r>
                        <a:rPr lang="en" sz="1300">
                          <a:latin typeface="Lucida Sans"/>
                          <a:ea typeface="Lucida Sans"/>
                          <a:cs typeface="Lucida Sans"/>
                          <a:sym typeface="Lucida Sans"/>
                        </a:rPr>
                        <a:t>nput </a:t>
                      </a:r>
                      <a:r>
                        <a:rPr b="1" lang="en" sz="1300">
                          <a:latin typeface="Lucida Sans"/>
                          <a:ea typeface="Lucida Sans"/>
                          <a:cs typeface="Lucida Sans"/>
                          <a:sym typeface="Lucida Sans"/>
                        </a:rPr>
                        <a:t>single fanwork link</a:t>
                      </a:r>
                      <a:r>
                        <a:rPr lang="en" sz="1300">
                          <a:latin typeface="Lucida Sans"/>
                          <a:ea typeface="Lucida Sans"/>
                          <a:cs typeface="Lucida Sans"/>
                          <a:sym typeface="Lucida Sans"/>
                        </a:rPr>
                        <a:t> (rather than a list of works to iterate through); open output JSON document to validate visually (does not require get_pagination_links or get_fanwork_links steps scripts)</a:t>
                      </a:r>
                      <a:endParaRPr sz="1300">
                        <a:latin typeface="Lucida Sans"/>
                        <a:ea typeface="Lucida Sans"/>
                        <a:cs typeface="Lucida Sans"/>
                        <a:sym typeface="Lucida Sans"/>
                      </a:endParaRPr>
                    </a:p>
                  </a:txBody>
                  <a:tcPr marT="63500" marB="63500" marR="63500" marL="63500"/>
                </a:tc>
                <a:tc>
                  <a:txBody>
                    <a:bodyPr/>
                    <a:lstStyle/>
                    <a:p>
                      <a:pPr indent="0" lvl="0" marL="0" rtl="0" algn="l">
                        <a:spcBef>
                          <a:spcPts val="0"/>
                        </a:spcBef>
                        <a:spcAft>
                          <a:spcPts val="0"/>
                        </a:spcAft>
                        <a:buNone/>
                      </a:pPr>
                      <a:r>
                        <a:rPr lang="en" sz="1300">
                          <a:latin typeface="Lucida Sans"/>
                          <a:ea typeface="Lucida Sans"/>
                          <a:cs typeface="Lucida Sans"/>
                          <a:sym typeface="Lucida Sans"/>
                        </a:rPr>
                        <a:t>Returns nested JSON array of length=1 populated with data from single fanwork; no “Unknown” fields</a:t>
                      </a:r>
                      <a:endParaRPr sz="1300">
                        <a:latin typeface="Lucida Sans"/>
                        <a:ea typeface="Lucida Sans"/>
                        <a:cs typeface="Lucida Sans"/>
                        <a:sym typeface="Lucida Sans"/>
                      </a:endParaRPr>
                    </a:p>
                  </a:txBody>
                  <a:tcPr marT="63500" marB="63500" marR="63500" marL="63500"/>
                </a:tc>
              </a:tr>
              <a:tr h="12700">
                <a:tc>
                  <a:txBody>
                    <a:bodyPr/>
                    <a:lstStyle/>
                    <a:p>
                      <a:pPr indent="0" lvl="0" marL="0" rtl="0" algn="l">
                        <a:spcBef>
                          <a:spcPts val="0"/>
                        </a:spcBef>
                        <a:spcAft>
                          <a:spcPts val="0"/>
                        </a:spcAft>
                        <a:buNone/>
                      </a:pPr>
                      <a:r>
                        <a:rPr lang="en" sz="1300">
                          <a:latin typeface="Lucida Sans"/>
                          <a:ea typeface="Lucida Sans"/>
                          <a:cs typeface="Lucida Sans"/>
                          <a:sym typeface="Lucida Sans"/>
                        </a:rPr>
                        <a:t>Subset of fanworks list</a:t>
                      </a:r>
                      <a:endParaRPr sz="1300">
                        <a:latin typeface="Lucida Sans"/>
                        <a:ea typeface="Lucida Sans"/>
                        <a:cs typeface="Lucida Sans"/>
                        <a:sym typeface="Lucida Sans"/>
                      </a:endParaRPr>
                    </a:p>
                  </a:txBody>
                  <a:tcPr marT="63500" marB="63500" marR="63500" marL="63500"/>
                </a:tc>
                <a:tc>
                  <a:txBody>
                    <a:bodyPr/>
                    <a:lstStyle/>
                    <a:p>
                      <a:pPr indent="0" lvl="0" marL="0" rtl="0" algn="l">
                        <a:spcBef>
                          <a:spcPts val="0"/>
                        </a:spcBef>
                        <a:spcAft>
                          <a:spcPts val="0"/>
                        </a:spcAft>
                        <a:buNone/>
                      </a:pPr>
                      <a:r>
                        <a:rPr lang="en" sz="1300">
                          <a:latin typeface="Lucida Sans"/>
                          <a:ea typeface="Lucida Sans"/>
                          <a:cs typeface="Lucida Sans"/>
                          <a:sym typeface="Lucida Sans"/>
                        </a:rPr>
                        <a:t>I</a:t>
                      </a:r>
                      <a:r>
                        <a:rPr lang="en" sz="1300">
                          <a:latin typeface="Lucida Sans"/>
                          <a:ea typeface="Lucida Sans"/>
                          <a:cs typeface="Lucida Sans"/>
                          <a:sym typeface="Lucida Sans"/>
                        </a:rPr>
                        <a:t>nput </a:t>
                      </a:r>
                      <a:r>
                        <a:rPr b="1" lang="en" sz="1300">
                          <a:latin typeface="Lucida Sans"/>
                          <a:ea typeface="Lucida Sans"/>
                          <a:cs typeface="Lucida Sans"/>
                          <a:sym typeface="Lucida Sans"/>
                        </a:rPr>
                        <a:t>list of 10 fanworks</a:t>
                      </a:r>
                      <a:r>
                        <a:rPr lang="en" sz="1300">
                          <a:latin typeface="Lucida Sans"/>
                          <a:ea typeface="Lucida Sans"/>
                          <a:cs typeface="Lucida Sans"/>
                          <a:sym typeface="Lucida Sans"/>
                        </a:rPr>
                        <a:t>; open output JSON document to validate visually (does not require get_pagination_links script)</a:t>
                      </a:r>
                      <a:endParaRPr sz="1300">
                        <a:latin typeface="Lucida Sans"/>
                        <a:ea typeface="Lucida Sans"/>
                        <a:cs typeface="Lucida Sans"/>
                        <a:sym typeface="Lucida Sans"/>
                      </a:endParaRPr>
                    </a:p>
                  </a:txBody>
                  <a:tcPr marT="63500" marB="63500" marR="63500" marL="63500"/>
                </a:tc>
                <a:tc>
                  <a:txBody>
                    <a:bodyPr/>
                    <a:lstStyle/>
                    <a:p>
                      <a:pPr indent="0" lvl="0" marL="0" rtl="0" algn="l">
                        <a:spcBef>
                          <a:spcPts val="0"/>
                        </a:spcBef>
                        <a:spcAft>
                          <a:spcPts val="0"/>
                        </a:spcAft>
                        <a:buNone/>
                      </a:pPr>
                      <a:r>
                        <a:rPr lang="en" sz="1300">
                          <a:latin typeface="Lucida Sans"/>
                          <a:ea typeface="Lucida Sans"/>
                          <a:cs typeface="Lucida Sans"/>
                          <a:sym typeface="Lucida Sans"/>
                        </a:rPr>
                        <a:t>Returns nested JSON array of length=10 populated with data from 10 fanworks; 1 or fewer entries only contains “Unknown” fields (i.e. no metadata was successfully scraped)</a:t>
                      </a:r>
                      <a:endParaRPr sz="1300">
                        <a:latin typeface="Lucida Sans"/>
                        <a:ea typeface="Lucida Sans"/>
                        <a:cs typeface="Lucida Sans"/>
                        <a:sym typeface="Lucida Sans"/>
                      </a:endParaRPr>
                    </a:p>
                  </a:txBody>
                  <a:tcPr marT="63500" marB="63500" marR="63500" marL="63500"/>
                </a:tc>
              </a:tr>
              <a:tr h="12700">
                <a:tc>
                  <a:txBody>
                    <a:bodyPr/>
                    <a:lstStyle/>
                    <a:p>
                      <a:pPr indent="0" lvl="0" marL="0" rtl="0" algn="l">
                        <a:spcBef>
                          <a:spcPts val="0"/>
                        </a:spcBef>
                        <a:spcAft>
                          <a:spcPts val="0"/>
                        </a:spcAft>
                        <a:buNone/>
                      </a:pPr>
                      <a:r>
                        <a:rPr lang="en" sz="1300">
                          <a:latin typeface="Lucida Sans"/>
                          <a:ea typeface="Lucida Sans"/>
                          <a:cs typeface="Lucida Sans"/>
                          <a:sym typeface="Lucida Sans"/>
                        </a:rPr>
                        <a:t>Full fanworks list</a:t>
                      </a:r>
                      <a:endParaRPr sz="1300">
                        <a:latin typeface="Lucida Sans"/>
                        <a:ea typeface="Lucida Sans"/>
                        <a:cs typeface="Lucida Sans"/>
                        <a:sym typeface="Lucida Sans"/>
                      </a:endParaRPr>
                    </a:p>
                  </a:txBody>
                  <a:tcPr marT="63500" marB="63500" marR="63500" marL="63500"/>
                </a:tc>
                <a:tc>
                  <a:txBody>
                    <a:bodyPr/>
                    <a:lstStyle/>
                    <a:p>
                      <a:pPr indent="0" lvl="0" marL="0" rtl="0" algn="l">
                        <a:spcBef>
                          <a:spcPts val="0"/>
                        </a:spcBef>
                        <a:spcAft>
                          <a:spcPts val="0"/>
                        </a:spcAft>
                        <a:buNone/>
                      </a:pPr>
                      <a:r>
                        <a:rPr lang="en" sz="1300">
                          <a:latin typeface="Lucida Sans"/>
                          <a:ea typeface="Lucida Sans"/>
                          <a:cs typeface="Lucida Sans"/>
                          <a:sym typeface="Lucida Sans"/>
                        </a:rPr>
                        <a:t>I</a:t>
                      </a:r>
                      <a:r>
                        <a:rPr lang="en" sz="1300">
                          <a:latin typeface="Lucida Sans"/>
                          <a:ea typeface="Lucida Sans"/>
                          <a:cs typeface="Lucida Sans"/>
                          <a:sym typeface="Lucida Sans"/>
                        </a:rPr>
                        <a:t>nput </a:t>
                      </a:r>
                      <a:r>
                        <a:rPr b="1" lang="en" sz="1300">
                          <a:latin typeface="Lucida Sans"/>
                          <a:ea typeface="Lucida Sans"/>
                          <a:cs typeface="Lucida Sans"/>
                          <a:sym typeface="Lucida Sans"/>
                        </a:rPr>
                        <a:t>link to the first page of an Ao3 fandom with 100+ fanworks</a:t>
                      </a:r>
                      <a:r>
                        <a:rPr lang="en" sz="1300">
                          <a:latin typeface="Lucida Sans"/>
                          <a:ea typeface="Lucida Sans"/>
                          <a:cs typeface="Lucida Sans"/>
                          <a:sym typeface="Lucida Sans"/>
                        </a:rPr>
                        <a:t>; script counts number of entries with “Unknown” fields (requires both get_pagination_links and get_fanwork_links scripts)</a:t>
                      </a:r>
                      <a:endParaRPr sz="1300">
                        <a:latin typeface="Lucida Sans"/>
                        <a:ea typeface="Lucida Sans"/>
                        <a:cs typeface="Lucida Sans"/>
                        <a:sym typeface="Lucida Sans"/>
                      </a:endParaRPr>
                    </a:p>
                  </a:txBody>
                  <a:tcPr marT="63500" marB="63500" marR="63500" marL="63500"/>
                </a:tc>
                <a:tc>
                  <a:txBody>
                    <a:bodyPr/>
                    <a:lstStyle/>
                    <a:p>
                      <a:pPr indent="0" lvl="0" marL="0" rtl="0" algn="l">
                        <a:spcBef>
                          <a:spcPts val="0"/>
                        </a:spcBef>
                        <a:spcAft>
                          <a:spcPts val="0"/>
                        </a:spcAft>
                        <a:buNone/>
                      </a:pPr>
                      <a:r>
                        <a:rPr lang="en" sz="1300">
                          <a:latin typeface="Lucida Sans"/>
                          <a:ea typeface="Lucida Sans"/>
                          <a:cs typeface="Lucida Sans"/>
                          <a:sym typeface="Lucida Sans"/>
                        </a:rPr>
                        <a:t>Returns nested JSON array of length=n (total number of fanworks returned in Ao3 search results); 10% or fewer entries contain “Unknown” fields (i.e. no metadata was successfully scraped)</a:t>
                      </a:r>
                      <a:endParaRPr sz="1300">
                        <a:latin typeface="Lucida Sans"/>
                        <a:ea typeface="Lucida Sans"/>
                        <a:cs typeface="Lucida Sans"/>
                        <a:sym typeface="Lucida Sans"/>
                      </a:endParaRPr>
                    </a:p>
                  </a:txBody>
                  <a:tcPr marT="63500" marB="63500" marR="63500" marL="6350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9"/>
          <p:cNvSpPr txBox="1"/>
          <p:nvPr>
            <p:ph type="title"/>
          </p:nvPr>
        </p:nvSpPr>
        <p:spPr>
          <a:xfrm>
            <a:off x="311700" y="445025"/>
            <a:ext cx="8520600" cy="4288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6000">
                <a:latin typeface="Lucida Sans"/>
                <a:ea typeface="Lucida Sans"/>
                <a:cs typeface="Lucida Sans"/>
                <a:sym typeface="Lucida Sans"/>
              </a:rPr>
              <a:t>Thank you!</a:t>
            </a:r>
            <a:endParaRPr sz="6000">
              <a:latin typeface="Lucida Sans"/>
              <a:ea typeface="Lucida Sans"/>
              <a:cs typeface="Lucida Sans"/>
              <a:sym typeface="Lucida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